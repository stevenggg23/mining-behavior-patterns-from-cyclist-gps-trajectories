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2" r:id="rId7"/>
    <p:sldId id="273" r:id="rId8"/>
    <p:sldId id="274" r:id="rId9"/>
    <p:sldId id="261" r:id="rId10"/>
    <p:sldId id="262" r:id="rId11"/>
    <p:sldId id="263" r:id="rId12"/>
    <p:sldId id="264" r:id="rId13"/>
    <p:sldId id="265" r:id="rId14"/>
    <p:sldId id="266" r:id="rId15"/>
    <p:sldId id="267" r:id="rId16"/>
    <p:sldId id="268" r:id="rId17"/>
    <p:sldId id="271" r:id="rId18"/>
    <p:sldId id="269"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CA19E-4DE2-4C78-B252-4F4B3328928D}" v="185" dt="2026-09-25T18:47:54.201"/>
    <p1510:client id="{15E5A055-DDB4-4421-84F7-B07806939A37}" v="14" dt="2026-09-26T02:20:45.659"/>
    <p1510:client id="{FD0B5C31-6B07-4BDC-A4E1-10114A726F5E}" v="115" dt="2026-09-25T18:20:57.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4A39225-E4F4-46D8-877D-3073278C317C}" type="datetimeFigureOut">
              <a:t>10/4/2026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8586BE48-56C3-47FE-A0A3-775817039AD1}" type="slidenum">
              <a:t>‹#›</a:t>
            </a:fld>
            <a:endParaRPr lang="en-US"/>
          </a:p>
        </p:txBody>
      </p:sp>
    </p:spTree>
    <p:extLst>
      <p:ext uri="{BB962C8B-B14F-4D97-AF65-F5344CB8AC3E}">
        <p14:creationId xmlns:p14="http://schemas.microsoft.com/office/powerpoint/2010/main" val="563827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I'm Steven, this is Kevin. Our project is about using GPS data from cyclists to figure out </a:t>
            </a:r>
            <a:r>
              <a:rPr lang="en-US" i="1" dirty="0"/>
              <a:t>how</a:t>
            </a:r>
            <a:r>
              <a:rPr lang="en-US" dirty="0"/>
              <a:t> people actually ride. Where they speed up, where they stop, and where things get dangerous. That map behind us is real data, it's every ride we cleaned."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What it is:</a:t>
            </a:r>
            <a:r>
              <a:rPr lang="en-US" dirty="0"/>
              <a:t> The question we're answering. Cities usually know </a:t>
            </a:r>
            <a:r>
              <a:rPr lang="en-US" i="1" dirty="0"/>
              <a:t>how many</a:t>
            </a:r>
            <a:r>
              <a:rPr lang="en-US" dirty="0"/>
              <a:t> cyclists pass a spot (counters), but not </a:t>
            </a:r>
            <a:r>
              <a:rPr lang="en-US" i="1" dirty="0"/>
              <a:t>how</a:t>
            </a:r>
            <a:r>
              <a:rPr lang="en-US" dirty="0"/>
              <a:t> they ride. GPS traces can show that.</a:t>
            </a:r>
          </a:p>
          <a:p>
            <a:endParaRPr lang="en-US" dirty="0"/>
          </a:p>
          <a:p>
            <a:r>
              <a:rPr lang="en-US" dirty="0"/>
              <a:t>So the question is pretty simple. Can we take raw GPS from people's phones and turn it into real riding patterns? Right now most cities just count bikes. They don't know which streets people actually pick, where they keep stopping, or which intersections feel sketchy. That's the gap we're going after.</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four goals.</a:t>
            </a:r>
          </a:p>
          <a:p>
            <a:endParaRPr lang="en-US" dirty="0"/>
          </a:p>
          <a:p>
            <a:pPr marL="171450" indent="-171450">
              <a:buFont typeface="Arial"/>
              <a:buChar char="•"/>
            </a:pPr>
            <a:r>
              <a:rPr lang="en-US" b="1" dirty="0"/>
              <a:t>Map matching</a:t>
            </a:r>
            <a:r>
              <a:rPr lang="en-US" dirty="0"/>
              <a:t> means GPS points drift, so we snap them onto the actual road network (OpenStreetMap).</a:t>
            </a:r>
            <a:endParaRPr lang="en-US" dirty="0">
              <a:ea typeface="Calibri"/>
              <a:cs typeface="Calibri"/>
            </a:endParaRPr>
          </a:p>
          <a:p>
            <a:pPr marL="171450" indent="-171450">
              <a:buFont typeface="Arial"/>
              <a:buChar char="•"/>
            </a:pPr>
            <a:r>
              <a:rPr lang="en-US" b="1" dirty="0"/>
              <a:t>Features</a:t>
            </a:r>
            <a:r>
              <a:rPr lang="en-US" dirty="0"/>
              <a:t> means turning thousands of points into a few numbers per ride.</a:t>
            </a:r>
            <a:endParaRPr lang="en-US" dirty="0">
              <a:ea typeface="Calibri"/>
              <a:cs typeface="Calibri"/>
            </a:endParaRPr>
          </a:p>
          <a:p>
            <a:pPr marL="171450" indent="-171450">
              <a:buFont typeface="Arial"/>
              <a:buChar char="•"/>
            </a:pPr>
            <a:r>
              <a:rPr lang="en-US" b="1" dirty="0"/>
              <a:t>Clustering</a:t>
            </a:r>
            <a:r>
              <a:rPr lang="en-US" dirty="0"/>
              <a:t> means grouping similar rides.</a:t>
            </a:r>
            <a:endParaRPr lang="en-US" dirty="0">
              <a:ea typeface="Calibri"/>
              <a:cs typeface="Calibri"/>
            </a:endParaRPr>
          </a:p>
          <a:p>
            <a:pPr marL="171450" indent="-171450">
              <a:buFont typeface="Arial"/>
              <a:buChar char="•"/>
            </a:pPr>
            <a:r>
              <a:rPr lang="en-US" b="1" dirty="0"/>
              <a:t>Hot spots</a:t>
            </a:r>
            <a:r>
              <a:rPr lang="en-US" dirty="0"/>
              <a:t> means summarizing by street and intersection. </a:t>
            </a:r>
            <a:endParaRPr lang="en-US" dirty="0">
              <a:ea typeface="Calibri"/>
              <a:cs typeface="Calibri"/>
            </a:endParaRPr>
          </a:p>
          <a:p>
            <a:endParaRPr lang="en-US" dirty="0"/>
          </a:p>
          <a:p>
            <a:r>
              <a:rPr lang="en-US" dirty="0"/>
              <a:t>Goals 2 and 3 are started. Goals 1 and 4 are the second half of the semester.</a:t>
            </a:r>
            <a:endParaRPr lang="en-US" dirty="0">
              <a:ea typeface="Calibri"/>
              <a:cs typeface="Calibri"/>
            </a:endParaRPr>
          </a:p>
          <a:p>
            <a:endParaRPr lang="en-US" dirty="0"/>
          </a:p>
          <a:p>
            <a:r>
              <a:rPr lang="en-US" dirty="0"/>
              <a:t>We've got four goals. First, clean up the GPS and snap it onto the real road network. Second, pull out features like speed, stops, and turns for every ride. Third, group rides into different riding styles. And last, find the popular routes and the problem intersections. For today we've got the feature part done and a first try at clustering.</a:t>
            </a:r>
            <a:endParaRPr lang="en-US" dirty="0">
              <a:ea typeface="Calibri"/>
              <a:cs typeface="Calibri"/>
            </a:endParaRPr>
          </a:p>
          <a:p>
            <a:pPr marL="171450" indent="-171450">
              <a:buFont typeface="Arial"/>
              <a:buChar char="•"/>
            </a:pP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matter? If a city knows exactly where cyclists stop and where they have close calls, they can fix those spots first instead of guessing. Berlin's actually already using this data. And honestly this could work for any city with bike data, Nashville included."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comes from </a:t>
            </a:r>
            <a:r>
              <a:rPr lang="en-US" dirty="0" err="1"/>
              <a:t>SimRa</a:t>
            </a:r>
            <a:r>
              <a:rPr lang="en-US" dirty="0"/>
              <a:t>, a project out of TU Berlin. Cyclists use an app while they ride, and afterward they can tag any close calls, like a car passing too close. </a:t>
            </a:r>
            <a:endParaRPr lang="en-US">
              <a:solidFill>
                <a:srgbClr val="444444"/>
              </a:solidFill>
            </a:endParaRPr>
          </a:p>
          <a:p>
            <a:endParaRPr lang="en-US" dirty="0">
              <a:solidFill>
                <a:srgbClr val="444444"/>
              </a:solidFill>
            </a:endParaRPr>
          </a:p>
          <a:p>
            <a:r>
              <a:rPr lang="en-US" dirty="0"/>
              <a:t>Every ride file has two parts. On top are the incidents, and below that is the actual ride: </a:t>
            </a:r>
            <a:endParaRPr lang="en-US" dirty="0">
              <a:solidFill>
                <a:srgbClr val="444444"/>
              </a:solidFill>
            </a:endParaRPr>
          </a:p>
          <a:p>
            <a:endParaRPr lang="en-US" dirty="0">
              <a:solidFill>
                <a:srgbClr val="444444"/>
              </a:solidFill>
            </a:endParaRPr>
          </a:p>
          <a:p>
            <a:r>
              <a:rPr lang="en-US" dirty="0"/>
              <a:t>GPS about every three seconds, plus the phone's motion sensors. </a:t>
            </a:r>
            <a:endParaRPr lang="en-US">
              <a:solidFill>
                <a:srgbClr val="444444"/>
              </a:solidFill>
            </a:endParaRPr>
          </a:p>
          <a:p>
            <a:endParaRPr lang="en-US" dirty="0">
              <a:solidFill>
                <a:srgbClr val="444444"/>
              </a:solidFill>
            </a:endParaRPr>
          </a:p>
          <a:p>
            <a:r>
              <a:rPr lang="en-US" dirty="0"/>
              <a:t>For the midterm we took one full month, June 2023. </a:t>
            </a:r>
            <a:endParaRPr lang="en-US" dirty="0">
              <a:solidFill>
                <a:srgbClr val="444444"/>
              </a:solidFill>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panose="020F0502020204030204"/>
                <a:cs typeface="Calibri" panose="020F0502020204030204"/>
              </a:rPr>
              <a:t>Points.csv</a:t>
            </a:r>
          </a:p>
        </p:txBody>
      </p:sp>
      <p:sp>
        <p:nvSpPr>
          <p:cNvPr id="4" name="Slide Number Placeholder 3"/>
          <p:cNvSpPr>
            <a:spLocks noGrp="1"/>
          </p:cNvSpPr>
          <p:nvPr>
            <p:ph type="sldNum" sz="quarter" idx="5"/>
          </p:nvPr>
        </p:nvSpPr>
        <p:spPr/>
        <p:txBody>
          <a:bodyPr/>
          <a:lstStyle/>
          <a:p>
            <a:fld id="{8586BE48-56C3-47FE-A0A3-775817039AD1}" type="slidenum">
              <a:rPr lang="en-US"/>
              <a:t>6</a:t>
            </a:fld>
            <a:endParaRPr lang="en-US"/>
          </a:p>
        </p:txBody>
      </p:sp>
    </p:spTree>
    <p:extLst>
      <p:ext uri="{BB962C8B-B14F-4D97-AF65-F5344CB8AC3E}">
        <p14:creationId xmlns:p14="http://schemas.microsoft.com/office/powerpoint/2010/main" val="4076743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panose="020F0502020204030204"/>
                <a:cs typeface="Calibri" panose="020F0502020204030204"/>
              </a:rPr>
              <a:t>Rides_cl.csv</a:t>
            </a:r>
          </a:p>
        </p:txBody>
      </p:sp>
      <p:sp>
        <p:nvSpPr>
          <p:cNvPr id="4" name="Slide Number Placeholder 3"/>
          <p:cNvSpPr>
            <a:spLocks noGrp="1"/>
          </p:cNvSpPr>
          <p:nvPr>
            <p:ph type="sldNum" sz="quarter" idx="5"/>
          </p:nvPr>
        </p:nvSpPr>
        <p:spPr/>
        <p:txBody>
          <a:bodyPr/>
          <a:lstStyle/>
          <a:p>
            <a:fld id="{8586BE48-56C3-47FE-A0A3-775817039AD1}" type="slidenum">
              <a:rPr lang="en-US"/>
              <a:t>7</a:t>
            </a:fld>
            <a:endParaRPr lang="en-US"/>
          </a:p>
        </p:txBody>
      </p:sp>
    </p:spTree>
    <p:extLst>
      <p:ext uri="{BB962C8B-B14F-4D97-AF65-F5344CB8AC3E}">
        <p14:creationId xmlns:p14="http://schemas.microsoft.com/office/powerpoint/2010/main" val="2938253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Incidents.csv</a:t>
            </a:r>
          </a:p>
        </p:txBody>
      </p:sp>
      <p:sp>
        <p:nvSpPr>
          <p:cNvPr id="4" name="Slide Number Placeholder 3"/>
          <p:cNvSpPr>
            <a:spLocks noGrp="1"/>
          </p:cNvSpPr>
          <p:nvPr>
            <p:ph type="sldNum" sz="quarter" idx="5"/>
          </p:nvPr>
        </p:nvSpPr>
        <p:spPr/>
        <p:txBody>
          <a:bodyPr/>
          <a:lstStyle/>
          <a:p>
            <a:fld id="{8586BE48-56C3-47FE-A0A3-775817039AD1}" type="slidenum">
              <a:rPr lang="en-US"/>
              <a:t>8</a:t>
            </a:fld>
            <a:endParaRPr lang="en-US"/>
          </a:p>
        </p:txBody>
      </p:sp>
    </p:spTree>
    <p:extLst>
      <p:ext uri="{BB962C8B-B14F-4D97-AF65-F5344CB8AC3E}">
        <p14:creationId xmlns:p14="http://schemas.microsoft.com/office/powerpoint/2010/main" val="3867462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we started with. 877 rides, about four and a half million rows. </a:t>
            </a:r>
            <a:endParaRPr lang="en-US" dirty="0">
              <a:solidFill>
                <a:srgbClr val="444444"/>
              </a:solidFill>
            </a:endParaRPr>
          </a:p>
          <a:p>
            <a:endParaRPr lang="en-US" dirty="0">
              <a:solidFill>
                <a:srgbClr val="444444"/>
              </a:solidFill>
            </a:endParaRPr>
          </a:p>
          <a:p>
            <a:r>
              <a:rPr lang="en-US" dirty="0"/>
              <a:t>Most of that is sensor data, only about 381 thousand rows are actual GPS points. </a:t>
            </a:r>
            <a:endParaRPr lang="en-US" dirty="0">
              <a:solidFill>
                <a:srgbClr val="444444"/>
              </a:solidFill>
            </a:endParaRPr>
          </a:p>
          <a:p>
            <a:endParaRPr lang="en-US" dirty="0">
              <a:solidFill>
                <a:srgbClr val="444444"/>
              </a:solidFill>
            </a:endParaRPr>
          </a:p>
          <a:p>
            <a:r>
              <a:rPr lang="en-US" dirty="0"/>
              <a:t>The important thing is we have ground truth. Riders labeled 408 incidents themselves, what type it was, who was involved, and whether it was scary.</a:t>
            </a:r>
            <a:endParaRPr lang="en-US" dirty="0">
              <a:solidFill>
                <a:srgbClr val="444444"/>
              </a:solidFill>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Phones make GPS mistakes, so we filtered out the junk.</a:t>
            </a:r>
          </a:p>
          <a:p>
            <a:endParaRPr lang="en-US" dirty="0"/>
          </a:p>
          <a:p>
            <a:pPr marL="171450" indent="-171450">
              <a:buFont typeface="Arial"/>
              <a:buChar char="•"/>
            </a:pPr>
            <a:r>
              <a:rPr lang="en-US" b="1" dirty="0"/>
              <a:t>Error over 20 m:</a:t>
            </a:r>
            <a:r>
              <a:rPr lang="en-US" dirty="0"/>
              <a:t> every GPS point comes with an accuracy radius. Past 20 m, the point could be on the wrong street entirely.</a:t>
            </a:r>
            <a:endParaRPr lang="en-US" dirty="0">
              <a:ea typeface="Calibri"/>
              <a:cs typeface="Calibri"/>
            </a:endParaRPr>
          </a:p>
          <a:p>
            <a:pPr marL="171450" indent="-171450">
              <a:buFont typeface="Arial"/>
              <a:buChar char="•"/>
            </a:pPr>
            <a:r>
              <a:rPr lang="en-US" b="1" dirty="0"/>
              <a:t>Jumps over 54 km/h:</a:t>
            </a:r>
            <a:r>
              <a:rPr lang="en-US" dirty="0"/>
              <a:t> a bike can't go that fast in a city, so those are GPS glitches.</a:t>
            </a:r>
            <a:endParaRPr lang="en-US" dirty="0">
              <a:ea typeface="Calibri"/>
              <a:cs typeface="Calibri"/>
            </a:endParaRPr>
          </a:p>
          <a:p>
            <a:pPr marL="171450" indent="-171450">
              <a:buFont typeface="Arial"/>
              <a:buChar char="•"/>
            </a:pPr>
            <a:r>
              <a:rPr lang="en-US" b="1" dirty="0"/>
              <a:t>Rides under 300 m or 2 minutes:</a:t>
            </a:r>
            <a:r>
              <a:rPr lang="en-US" dirty="0"/>
              <a:t> probably someone testing the app.</a:t>
            </a:r>
            <a:endParaRPr lang="en-US" dirty="0">
              <a:ea typeface="Calibri"/>
              <a:cs typeface="Calibri"/>
            </a:endParaRPr>
          </a:p>
          <a:p>
            <a:pPr marL="171450" indent="-171450">
              <a:buFont typeface="Arial"/>
              <a:buChar char="•"/>
            </a:pPr>
            <a:r>
              <a:rPr lang="en-US" b="1" dirty="0"/>
              <a:t>Stops:</a:t>
            </a:r>
            <a:r>
              <a:rPr lang="en-US" dirty="0"/>
              <a:t> 5 or more seconds below walking speed. </a:t>
            </a:r>
            <a:r>
              <a:rPr lang="en-US" b="1" dirty="0"/>
              <a:t>Turns:</a:t>
            </a:r>
            <a:r>
              <a:rPr lang="en-US" dirty="0"/>
              <a:t> the direction changes by more than 45 degrees while moving.</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a normal ride look like? About 4 kilometers, 15 minutes, around 18 and a half kilometers an hour when they're actually moving. Notice distance and duration have a mean higher than the median. That's because a few people did really long rides and it pulls the average up. That's why we lean on the median.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 ride plotted on Berlin. Brighter lines mean faster riding. The red dots are incidents, and the bigger ones were marked scary. You can see they bunch up in the middle of the city, along the same main roads most people ride. So the danger isn't random, it follows the traffic.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histograms. A histogram shows how many rides fall in each range.</a:t>
            </a:r>
          </a:p>
          <a:p>
            <a:endParaRPr lang="en-US" dirty="0"/>
          </a:p>
          <a:p>
            <a:pPr marL="171450" indent="-171450">
              <a:buFont typeface="Arial"/>
              <a:buChar char="•"/>
            </a:pPr>
            <a:r>
              <a:rPr lang="en-US" b="1" dirty="0"/>
              <a:t>Speed</a:t>
            </a:r>
            <a:r>
              <a:rPr lang="en-US" dirty="0"/>
              <a:t> is bell-shaped around 18.5 km/h, so most people ride at similar speeds.</a:t>
            </a:r>
            <a:endParaRPr lang="en-US" dirty="0">
              <a:ea typeface="Calibri"/>
              <a:cs typeface="Calibri"/>
            </a:endParaRPr>
          </a:p>
          <a:p>
            <a:pPr marL="171450" indent="-171450">
              <a:buFont typeface="Arial"/>
              <a:buChar char="•"/>
            </a:pPr>
            <a:r>
              <a:rPr lang="en-US" b="1" dirty="0"/>
              <a:t>Stops</a:t>
            </a:r>
            <a:r>
              <a:rPr lang="en-US" dirty="0"/>
              <a:t> have a long tail: most rides stop about once per km, but some stop constantly.</a:t>
            </a:r>
            <a:endParaRPr lang="en-US" dirty="0">
              <a:ea typeface="Calibri"/>
              <a:cs typeface="Calibri"/>
            </a:endParaRPr>
          </a:p>
          <a:p>
            <a:pPr marL="171450" indent="-171450">
              <a:buFont typeface="Arial"/>
              <a:buChar char="•"/>
            </a:pPr>
            <a:endParaRPr lang="en-US" dirty="0"/>
          </a:p>
          <a:p>
            <a:r>
              <a:rPr lang="en-US" dirty="0"/>
              <a:t>That tail is the first hint of a "stop-and-go" riding style.</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shows which features move together. More turns goes with slower riding, which makes sense. Stops and time stopped are basically measuring the same thing. But the one we want to point out is this red one. Acceleration lines up with GPS error. That tells us some of what looks like jerky riding is really just bad GPS. That's a problem we have to fix before the final."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incidents riders reported. Half of them are close passes, basically a car squeezing by. Almost three out of four involve a car. On average that's about 8 incidents every 100 kilometers. And head-on ones don't happen much, but when they do, over half the time the rider said it was scary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tried grouping the rides. Two groups actually make sense: steady cruisers, who are fast with few stops, and stop-and-go riders. But the third group was weird. 96 percent of those people had their phone in their pocket. So that group isn't a riding style, it's bad GPS. That's actually useful, because it tells us exactly what to fix next."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6CDB6-5FB4-55ED-5FB7-7CC468B6BF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8CE91B-77F4-FF49-9DC9-B33297EF0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564D2-D72D-46A9-6C2B-BEF4DF6F916F}"/>
              </a:ext>
            </a:extLst>
          </p:cNvPr>
          <p:cNvSpPr>
            <a:spLocks noGrp="1"/>
          </p:cNvSpPr>
          <p:nvPr>
            <p:ph type="body" idx="1"/>
          </p:nvPr>
        </p:nvSpPr>
        <p:spPr/>
        <p:txBody>
          <a:bodyPr/>
          <a:lstStyle/>
          <a:p>
            <a:r>
              <a:rPr lang="en-US" dirty="0"/>
              <a:t>These are our sources </a:t>
            </a:r>
          </a:p>
        </p:txBody>
      </p:sp>
      <p:sp>
        <p:nvSpPr>
          <p:cNvPr id="4" name="Slide Number Placeholder 3">
            <a:extLst>
              <a:ext uri="{FF2B5EF4-FFF2-40B4-BE49-F238E27FC236}">
                <a16:creationId xmlns:a16="http://schemas.microsoft.com/office/drawing/2014/main" id="{97A3D27A-7541-E6E3-3F9E-AF92B3C12E01}"/>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171941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Final Summary</a:t>
            </a:r>
            <a:endParaRPr lang="en-US" dirty="0"/>
          </a:p>
          <a:p>
            <a:endParaRPr lang="en-US" dirty="0"/>
          </a:p>
          <a:p>
            <a:r>
              <a:rPr lang="en-US" b="1" u="sng" dirty="0"/>
              <a:t>Typical ride</a:t>
            </a:r>
            <a:r>
              <a:rPr lang="en-US" dirty="0"/>
              <a:t>: about 4 km and 15 minutes, at about 18.5 km/h while moving. Distance and duration are right skewed.</a:t>
            </a:r>
            <a:endParaRPr lang="en-US" dirty="0">
              <a:ea typeface="Calibri" panose="020F0502020204030204"/>
              <a:cs typeface="Calibri" panose="020F0502020204030204"/>
            </a:endParaRPr>
          </a:p>
          <a:p>
            <a:r>
              <a:rPr lang="en-US" b="1" u="sng" dirty="0"/>
              <a:t>Stops</a:t>
            </a:r>
            <a:r>
              <a:rPr lang="en-US" dirty="0"/>
              <a:t>: most rides stop about once per km, but a long tail of rides stop constantly (stop-and-go riding).</a:t>
            </a:r>
            <a:endParaRPr lang="en-US" dirty="0">
              <a:ea typeface="Calibri" panose="020F0502020204030204"/>
              <a:cs typeface="Calibri" panose="020F0502020204030204"/>
            </a:endParaRPr>
          </a:p>
          <a:p>
            <a:r>
              <a:rPr lang="en-US" b="1" u="sng" dirty="0"/>
              <a:t>Turns slow riders down:</a:t>
            </a:r>
            <a:r>
              <a:rPr lang="en-US" dirty="0"/>
              <a:t> more turns per km goes with lower moving speed.</a:t>
            </a:r>
            <a:endParaRPr lang="en-US" dirty="0">
              <a:ea typeface="Calibri" panose="020F0502020204030204"/>
              <a:cs typeface="Calibri" panose="020F0502020204030204"/>
            </a:endParaRPr>
          </a:p>
          <a:p>
            <a:r>
              <a:rPr lang="en-US" b="1" u="sng" dirty="0"/>
              <a:t>Near-misses</a:t>
            </a:r>
            <a:r>
              <a:rPr lang="en-US" dirty="0"/>
              <a:t>: about half are close passes, most involve a car, and head-on approaches are the scariest.</a:t>
            </a:r>
            <a:endParaRPr lang="en-US" dirty="0">
              <a:ea typeface="Calibri" panose="020F0502020204030204"/>
              <a:cs typeface="Calibri" panose="020F0502020204030204"/>
            </a:endParaRPr>
          </a:p>
          <a:p>
            <a:r>
              <a:rPr lang="en-US" b="1" u="sng" dirty="0"/>
              <a:t>GPS noise is a real problem:</a:t>
            </a:r>
            <a:r>
              <a:rPr lang="en-US" dirty="0"/>
              <a:t> acceleration variability tracks GPS error closely, and one of the three clusters is driven by phone position (almost all in a pocket), not by riding style.</a:t>
            </a:r>
            <a:endParaRPr lang="en-US" dirty="0">
              <a:ea typeface="Calibri" panose="020F0502020204030204"/>
              <a:cs typeface="Calibri" panose="020F0502020204030204"/>
            </a:endParaRPr>
          </a:p>
          <a:p>
            <a:endParaRPr lang="en-US" dirty="0"/>
          </a:p>
          <a:p>
            <a:endParaRPr lang="en-US" dirty="0"/>
          </a:p>
          <a:p>
            <a:r>
              <a:rPr lang="en-US" dirty="0"/>
              <a:t>Next steps: map-match rides to the OpenStreetMap Berlin network, smooth GPS and control for phone position, scale up to more batches, then re-cluster and summarize by street segment and junction.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hyperlink" Target="https://download.geofabrik.de/europe/germany/berlin.html" TargetMode="External"/><Relationship Id="rId3" Type="http://schemas.openxmlformats.org/officeDocument/2006/relationships/hyperlink" Target="https://github.com/simra-project/dataset" TargetMode="External"/><Relationship Id="rId7" Type="http://schemas.openxmlformats.org/officeDocument/2006/relationships/hyperlink" Target="https://doi.org/10.14279/depositonce-22968"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doi.org/10.14279/depositonce-10605" TargetMode="External"/><Relationship Id="rId5" Type="http://schemas.openxmlformats.org/officeDocument/2006/relationships/hyperlink" Target="https://simra-project.github.io/dashboard/" TargetMode="External"/><Relationship Id="rId4" Type="http://schemas.openxmlformats.org/officeDocument/2006/relationships/hyperlink" Target="https://github.com/simra-project"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2.gif"/><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42E"/>
        </a:solidFill>
        <a:effectLst/>
      </p:bgPr>
    </p:bg>
    <p:spTree>
      <p:nvGrpSpPr>
        <p:cNvPr id="1" name=""/>
        <p:cNvGrpSpPr/>
        <p:nvPr/>
      </p:nvGrpSpPr>
      <p:grpSpPr>
        <a:xfrm>
          <a:off x="0" y="0"/>
          <a:ext cx="0" cy="0"/>
          <a:chOff x="0" y="0"/>
          <a:chExt cx="0" cy="0"/>
        </a:xfrm>
      </p:grpSpPr>
      <p:pic>
        <p:nvPicPr>
          <p:cNvPr id="2" name="Image 0" descr="Cyclist GPS traces across Berlin with incident points in red"/>
          <p:cNvPicPr>
            <a:picLocks noChangeAspect="1"/>
          </p:cNvPicPr>
          <p:nvPr/>
        </p:nvPicPr>
        <p:blipFill>
          <a:blip r:embed="rId3">
            <a:alphaModFix amt="90000"/>
          </a:blip>
          <a:srcRect l="16667" r="16667"/>
          <a:stretch/>
        </p:blipFill>
        <p:spPr>
          <a:xfrm>
            <a:off x="5884168" y="0"/>
            <a:ext cx="6096000" cy="6858000"/>
          </a:xfrm>
          <a:prstGeom prst="rect">
            <a:avLst/>
          </a:prstGeom>
        </p:spPr>
      </p:pic>
      <p:pic>
        <p:nvPicPr>
          <p:cNvPr id="3" name="Image 1" descr="GPS satellite"/>
          <p:cNvPicPr>
            <a:picLocks noChangeAspect="1"/>
          </p:cNvPicPr>
          <p:nvPr/>
        </p:nvPicPr>
        <p:blipFill>
          <a:blip r:embed="rId4"/>
          <a:srcRect t="-26" b="-26"/>
          <a:stretch/>
        </p:blipFill>
        <p:spPr>
          <a:xfrm>
            <a:off x="9069328" y="304800"/>
            <a:ext cx="2921000" cy="2070100"/>
          </a:xfrm>
          <a:prstGeom prst="rect">
            <a:avLst/>
          </a:prstGeom>
        </p:spPr>
      </p:pic>
      <p:sp>
        <p:nvSpPr>
          <p:cNvPr id="4"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50" dirty="0">
                <a:solidFill>
                  <a:srgbClr val="8FD3C6"/>
                </a:solidFill>
                <a:latin typeface="Inter" pitchFamily="34" charset="0"/>
                <a:ea typeface="Inter" pitchFamily="34" charset="-122"/>
                <a:cs typeface="Inter" pitchFamily="34" charset="-120"/>
              </a:rPr>
              <a:t>CSCI 4900/6000 · MIDTERM PRESENTATION</a:t>
            </a:r>
            <a:endParaRPr lang="en-US" sz="1400" dirty="0"/>
          </a:p>
        </p:txBody>
      </p:sp>
      <p:sp>
        <p:nvSpPr>
          <p:cNvPr id="5" name="Text 1"/>
          <p:cNvSpPr/>
          <p:nvPr/>
        </p:nvSpPr>
        <p:spPr>
          <a:xfrm>
            <a:off x="812800" y="1945779"/>
            <a:ext cx="5101590" cy="2219722"/>
          </a:xfrm>
          <a:prstGeom prst="rect">
            <a:avLst/>
          </a:prstGeom>
          <a:noFill/>
          <a:ln/>
        </p:spPr>
        <p:txBody>
          <a:bodyPr wrap="square" lIns="0" tIns="0" rIns="0" bIns="0" rtlCol="0" anchor="t">
            <a:normAutofit/>
          </a:bodyPr>
          <a:lstStyle/>
          <a:p>
            <a:pPr marL="0" indent="0" algn="l">
              <a:lnSpc>
                <a:spcPts val="4320"/>
              </a:lnSpc>
              <a:buNone/>
            </a:pPr>
            <a:r>
              <a:rPr lang="en-US" sz="4000" b="1" dirty="0">
                <a:solidFill>
                  <a:srgbClr val="F3F5F2"/>
                </a:solidFill>
                <a:latin typeface="Source Serif 4" pitchFamily="34" charset="0"/>
                <a:ea typeface="Source Serif 4" pitchFamily="34" charset="-122"/>
                <a:cs typeface="Source Serif 4" pitchFamily="34" charset="-120"/>
              </a:rPr>
              <a:t>Mining Behavior Patterns from Cyclist GPS Trajectories</a:t>
            </a:r>
            <a:endParaRPr lang="en-US" sz="4000" dirty="0"/>
          </a:p>
        </p:txBody>
      </p:sp>
      <p:sp>
        <p:nvSpPr>
          <p:cNvPr id="6" name="Text 2"/>
          <p:cNvSpPr/>
          <p:nvPr/>
        </p:nvSpPr>
        <p:spPr>
          <a:xfrm>
            <a:off x="812800" y="4557033"/>
            <a:ext cx="510159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7D0CC"/>
                </a:solidFill>
                <a:latin typeface="Inter" pitchFamily="34" charset="0"/>
                <a:ea typeface="Inter" pitchFamily="34" charset="-122"/>
                <a:cs typeface="Inter" pitchFamily="34" charset="-120"/>
              </a:rPr>
              <a:t>Speed, stops, turns and near-misses on Berlin's road network</a:t>
            </a:r>
            <a:endParaRPr lang="en-US" sz="1600" dirty="0"/>
          </a:p>
        </p:txBody>
      </p:sp>
      <p:sp>
        <p:nvSpPr>
          <p:cNvPr id="7" name="Text 3"/>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7D0CC"/>
                </a:solidFill>
                <a:latin typeface="Inter"/>
                <a:ea typeface="Inter" pitchFamily="34" charset="-122"/>
                <a:cs typeface="Inter" pitchFamily="34" charset="-120"/>
              </a:rPr>
              <a:t>Team 3: Steven Gobran &amp; Kevin Yassa </a:t>
            </a:r>
            <a:endParaRPr lang="en-US" sz="1400" dirty="0">
              <a:latin typeface="Inter"/>
              <a:ea typeface="Calibri" panose="020F0502020204030204"/>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2"/>
        </a:solidFill>
        <a:effectLst/>
      </p:bgPr>
    </p:bg>
    <p:spTree>
      <p:nvGrpSpPr>
        <p:cNvPr id="1" name=""/>
        <p:cNvGrpSpPr/>
        <p:nvPr/>
      </p:nvGrpSpPr>
      <p:grpSpPr>
        <a:xfrm>
          <a:off x="0" y="0"/>
          <a:ext cx="0" cy="0"/>
          <a:chOff x="0" y="0"/>
          <a:chExt cx="0" cy="0"/>
        </a:xfrm>
      </p:grpSpPr>
      <p:pic>
        <p:nvPicPr>
          <p:cNvPr id="2" name="Image 0" descr="Bike computer on handlebars showing a GPS route"/>
          <p:cNvPicPr>
            <a:picLocks noChangeAspect="1"/>
          </p:cNvPicPr>
          <p:nvPr/>
        </p:nvPicPr>
        <p:blipFill>
          <a:blip r:embed="rId3"/>
          <a:srcRect l="30247" r="30247"/>
          <a:stretch/>
        </p:blipFill>
        <p:spPr>
          <a:xfrm>
            <a:off x="8165171" y="-1"/>
            <a:ext cx="4026830" cy="6858000"/>
          </a:xfrm>
          <a:prstGeom prst="rect">
            <a:avLst/>
          </a:prstGeom>
        </p:spPr>
      </p:pic>
      <p:sp>
        <p:nvSpPr>
          <p:cNvPr id="4" name="Text 1"/>
          <p:cNvSpPr/>
          <p:nvPr/>
        </p:nvSpPr>
        <p:spPr>
          <a:xfrm>
            <a:off x="250903" y="130098"/>
            <a:ext cx="12557760"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42E"/>
                </a:solidFill>
                <a:latin typeface="Source Serif 4" pitchFamily="34" charset="0"/>
                <a:ea typeface="Source Serif 4" pitchFamily="34" charset="-122"/>
                <a:cs typeface="Source Serif 4" pitchFamily="34" charset="-120"/>
              </a:rPr>
              <a:t>Problem and motivation</a:t>
            </a:r>
            <a:endParaRPr lang="en-US" sz="3600" dirty="0"/>
          </a:p>
        </p:txBody>
      </p:sp>
      <p:sp>
        <p:nvSpPr>
          <p:cNvPr id="5" name="Shape 2"/>
          <p:cNvSpPr/>
          <p:nvPr/>
        </p:nvSpPr>
        <p:spPr>
          <a:xfrm>
            <a:off x="92927" y="811510"/>
            <a:ext cx="7970838" cy="1264841"/>
          </a:xfrm>
          <a:prstGeom prst="roundRect">
            <a:avLst>
              <a:gd name="adj" fmla="val 10041"/>
            </a:avLst>
          </a:prstGeom>
          <a:solidFill>
            <a:srgbClr val="FFFFFF"/>
          </a:solidFill>
          <a:ln/>
          <a:effectLst>
            <a:outerShdw blurRad="152400" dist="50800" dir="5400000" algn="bl" rotWithShape="0">
              <a:srgbClr val="16242E">
                <a:alpha val="8000"/>
              </a:srgbClr>
            </a:outerShdw>
          </a:effectLst>
        </p:spPr>
      </p:sp>
      <p:sp>
        <p:nvSpPr>
          <p:cNvPr id="6" name="Text 3"/>
          <p:cNvSpPr/>
          <p:nvPr/>
        </p:nvSpPr>
        <p:spPr>
          <a:xfrm>
            <a:off x="254000" y="1040110"/>
            <a:ext cx="7686723" cy="238720"/>
          </a:xfrm>
          <a:prstGeom prst="rect">
            <a:avLst/>
          </a:prstGeom>
          <a:noFill/>
          <a:ln/>
        </p:spPr>
        <p:txBody>
          <a:bodyPr wrap="square" lIns="0" tIns="0" rIns="0" bIns="0" rtlCol="0" anchor="t">
            <a:normAutofit/>
          </a:bodyPr>
          <a:lstStyle/>
          <a:p>
            <a:pPr marL="0" indent="0" algn="l">
              <a:lnSpc>
                <a:spcPts val="1723"/>
              </a:lnSpc>
              <a:buNone/>
            </a:pPr>
            <a:r>
              <a:rPr lang="en-US" sz="1231" b="1" kern="0" spc="100" dirty="0">
                <a:solidFill>
                  <a:srgbClr val="D9472F"/>
                </a:solidFill>
                <a:latin typeface="Inter" pitchFamily="34" charset="0"/>
                <a:ea typeface="Inter" pitchFamily="34" charset="-122"/>
                <a:cs typeface="Inter" pitchFamily="34" charset="-120"/>
              </a:rPr>
              <a:t>PROBLEM STATEMENT</a:t>
            </a:r>
            <a:endParaRPr lang="en-US" sz="1231" dirty="0"/>
          </a:p>
        </p:txBody>
      </p:sp>
      <p:sp>
        <p:nvSpPr>
          <p:cNvPr id="7" name="Text 4"/>
          <p:cNvSpPr/>
          <p:nvPr/>
        </p:nvSpPr>
        <p:spPr>
          <a:xfrm>
            <a:off x="254000" y="1355030"/>
            <a:ext cx="7686723" cy="518120"/>
          </a:xfrm>
          <a:prstGeom prst="rect">
            <a:avLst/>
          </a:prstGeom>
          <a:noFill/>
          <a:ln/>
        </p:spPr>
        <p:txBody>
          <a:bodyPr wrap="square" lIns="0" tIns="0" rIns="0" bIns="0" rtlCol="0" anchor="t">
            <a:normAutofit/>
          </a:bodyPr>
          <a:lstStyle/>
          <a:p>
            <a:pPr marL="0" indent="0" algn="l">
              <a:lnSpc>
                <a:spcPts val="1962"/>
              </a:lnSpc>
              <a:buNone/>
            </a:pPr>
            <a:r>
              <a:rPr lang="en-US" sz="1402" dirty="0">
                <a:solidFill>
                  <a:srgbClr val="16242E"/>
                </a:solidFill>
                <a:latin typeface="Inter" pitchFamily="34" charset="0"/>
                <a:ea typeface="Inter" pitchFamily="34" charset="-122"/>
                <a:cs typeface="Inter" pitchFamily="34" charset="-120"/>
              </a:rPr>
              <a:t>Can we turn raw smartphone GPS traces into clear patterns of </a:t>
            </a:r>
            <a:r>
              <a:rPr lang="en-US" sz="1402" b="1" dirty="0">
                <a:solidFill>
                  <a:srgbClr val="16242E"/>
                </a:solidFill>
                <a:latin typeface="Inter" pitchFamily="34" charset="0"/>
                <a:ea typeface="Inter" pitchFamily="34" charset="-122"/>
                <a:cs typeface="Inter" pitchFamily="34" charset="-120"/>
              </a:rPr>
              <a:t>how</a:t>
            </a:r>
            <a:r>
              <a:rPr lang="en-US" sz="1402" dirty="0">
                <a:solidFill>
                  <a:srgbClr val="16242E"/>
                </a:solidFill>
                <a:latin typeface="Inter" pitchFamily="34" charset="0"/>
                <a:ea typeface="Inter" pitchFamily="34" charset="-122"/>
                <a:cs typeface="Inter" pitchFamily="34" charset="-120"/>
              </a:rPr>
              <a:t> cyclists ride: where they speed up, stop, turn, and run into danger?</a:t>
            </a:r>
            <a:endParaRPr lang="en-US" sz="1402" dirty="0"/>
          </a:p>
        </p:txBody>
      </p:sp>
      <p:sp>
        <p:nvSpPr>
          <p:cNvPr id="8" name="Shape 5"/>
          <p:cNvSpPr/>
          <p:nvPr/>
        </p:nvSpPr>
        <p:spPr>
          <a:xfrm>
            <a:off x="92927" y="2269893"/>
            <a:ext cx="7367288" cy="2042194"/>
          </a:xfrm>
          <a:prstGeom prst="roundRect">
            <a:avLst>
              <a:gd name="adj" fmla="val 7576"/>
            </a:avLst>
          </a:prstGeom>
          <a:solidFill>
            <a:srgbClr val="16242E"/>
          </a:solidFill>
          <a:ln/>
        </p:spPr>
      </p:sp>
      <p:sp>
        <p:nvSpPr>
          <p:cNvPr id="9" name="Text 6"/>
          <p:cNvSpPr/>
          <p:nvPr/>
        </p:nvSpPr>
        <p:spPr>
          <a:xfrm>
            <a:off x="254000" y="2489200"/>
            <a:ext cx="12034520" cy="256480"/>
          </a:xfrm>
          <a:prstGeom prst="rect">
            <a:avLst/>
          </a:prstGeom>
          <a:noFill/>
          <a:ln/>
        </p:spPr>
        <p:txBody>
          <a:bodyPr wrap="square" lIns="0" tIns="0" rIns="0" bIns="0" rtlCol="0" anchor="t">
            <a:normAutofit/>
          </a:bodyPr>
          <a:lstStyle/>
          <a:p>
            <a:pPr marL="0" indent="0" algn="l">
              <a:lnSpc>
                <a:spcPts val="1820"/>
              </a:lnSpc>
              <a:buNone/>
            </a:pPr>
            <a:r>
              <a:rPr lang="en-US" sz="1300" b="1" kern="0" spc="100" dirty="0">
                <a:solidFill>
                  <a:srgbClr val="8FD3C6"/>
                </a:solidFill>
                <a:latin typeface="Inter" pitchFamily="34" charset="0"/>
                <a:ea typeface="Inter" pitchFamily="34" charset="-122"/>
                <a:cs typeface="Inter" pitchFamily="34" charset="-120"/>
              </a:rPr>
              <a:t>WHY IT MATTERS</a:t>
            </a:r>
            <a:endParaRPr lang="en-US" sz="1300" dirty="0"/>
          </a:p>
        </p:txBody>
      </p:sp>
      <p:sp>
        <p:nvSpPr>
          <p:cNvPr id="10" name="Text 7"/>
          <p:cNvSpPr/>
          <p:nvPr/>
        </p:nvSpPr>
        <p:spPr>
          <a:xfrm>
            <a:off x="254000" y="2821880"/>
            <a:ext cx="6923545" cy="1051311"/>
          </a:xfrm>
          <a:prstGeom prst="rect">
            <a:avLst/>
          </a:prstGeom>
          <a:noFill/>
          <a:ln/>
        </p:spPr>
        <p:txBody>
          <a:bodyPr wrap="square" lIns="0" tIns="0" rIns="0" bIns="0" rtlCol="0" anchor="t">
            <a:normAutofit/>
          </a:bodyPr>
          <a:lstStyle/>
          <a:p>
            <a:pPr>
              <a:lnSpc>
                <a:spcPts val="2100"/>
              </a:lnSpc>
            </a:pPr>
            <a:r>
              <a:rPr lang="en-US" sz="1500" dirty="0">
                <a:solidFill>
                  <a:srgbClr val="F3F5F2"/>
                </a:solidFill>
                <a:latin typeface="Inter" pitchFamily="34" charset="0"/>
                <a:ea typeface="Inter"/>
                <a:cs typeface="Inter" pitchFamily="34" charset="-120"/>
              </a:rPr>
              <a:t>City planners mostly see </a:t>
            </a:r>
            <a:r>
              <a:rPr lang="en-US" sz="1500" b="1" dirty="0">
                <a:solidFill>
                  <a:srgbClr val="F3F5F2"/>
                </a:solidFill>
                <a:latin typeface="Inter" pitchFamily="34" charset="0"/>
                <a:ea typeface="Inter"/>
                <a:cs typeface="Inter" pitchFamily="34" charset="-120"/>
              </a:rPr>
              <a:t>counts</a:t>
            </a:r>
            <a:r>
              <a:rPr lang="en-US" sz="1500" dirty="0">
                <a:solidFill>
                  <a:srgbClr val="F3F5F2"/>
                </a:solidFill>
                <a:latin typeface="Inter" pitchFamily="34" charset="0"/>
                <a:ea typeface="Inter"/>
                <a:cs typeface="Inter" pitchFamily="34" charset="-120"/>
              </a:rPr>
              <a:t> of cyclists, not behavior. They rarely know which </a:t>
            </a:r>
            <a:endParaRPr lang="en-US" sz="1500" dirty="0">
              <a:solidFill>
                <a:srgbClr val="000000"/>
              </a:solidFill>
              <a:latin typeface="Calibri" panose="020F0502020204030204"/>
              <a:ea typeface="Inter"/>
              <a:cs typeface="Calibri" panose="020F0502020204030204"/>
            </a:endParaRPr>
          </a:p>
          <a:p>
            <a:pPr marL="0" indent="0" algn="l">
              <a:lnSpc>
                <a:spcPts val="2100"/>
              </a:lnSpc>
              <a:buNone/>
            </a:pPr>
            <a:r>
              <a:rPr lang="en-US" sz="1500" dirty="0">
                <a:solidFill>
                  <a:srgbClr val="F3F5F2"/>
                </a:solidFill>
                <a:latin typeface="Inter"/>
                <a:ea typeface="Inter" pitchFamily="34" charset="-122"/>
                <a:cs typeface="Inter" pitchFamily="34" charset="-120"/>
              </a:rPr>
              <a:t>streets riders actually use, where they slow down, or which junctions feel unsafe.</a:t>
            </a:r>
            <a:endParaRPr lang="en-US" sz="1500">
              <a:latin typeface="Inter"/>
              <a:ea typeface="Calibri"/>
              <a:cs typeface="Calibri"/>
            </a:endParaRPr>
          </a:p>
        </p:txBody>
      </p:sp>
      <p:sp>
        <p:nvSpPr>
          <p:cNvPr id="11" name="Text 8"/>
          <p:cNvSpPr/>
          <p:nvPr/>
        </p:nvSpPr>
        <p:spPr>
          <a:xfrm>
            <a:off x="254000" y="3601460"/>
            <a:ext cx="120345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7D0CC"/>
                </a:solidFill>
                <a:latin typeface="Inter" pitchFamily="34" charset="0"/>
                <a:ea typeface="Inter" pitchFamily="34" charset="-122"/>
                <a:cs typeface="Inter" pitchFamily="34" charset="-120"/>
              </a:rPr>
              <a:t>Who benefits: planners, traffic departments, and cyclists.</a:t>
            </a:r>
            <a:endParaRPr lang="en-US" sz="1400" dirty="0"/>
          </a:p>
        </p:txBody>
      </p:sp>
      <p:pic>
        <p:nvPicPr>
          <p:cNvPr id="12" name="Picture 11">
            <a:extLst>
              <a:ext uri="{FF2B5EF4-FFF2-40B4-BE49-F238E27FC236}">
                <a16:creationId xmlns:a16="http://schemas.microsoft.com/office/drawing/2014/main" id="{4A4AC418-6D29-E06A-5B4C-10F7E3F509ED}"/>
              </a:ext>
            </a:extLst>
          </p:cNvPr>
          <p:cNvPicPr>
            <a:picLocks noChangeAspect="1"/>
          </p:cNvPicPr>
          <p:nvPr/>
        </p:nvPicPr>
        <p:blipFill>
          <a:blip r:embed="rId4"/>
          <a:stretch>
            <a:fillRect/>
          </a:stretch>
        </p:blipFill>
        <p:spPr>
          <a:xfrm>
            <a:off x="163408" y="4457081"/>
            <a:ext cx="3270416" cy="2357500"/>
          </a:xfrm>
          <a:prstGeom prst="rect">
            <a:avLst/>
          </a:prstGeom>
        </p:spPr>
      </p:pic>
      <p:pic>
        <p:nvPicPr>
          <p:cNvPr id="13" name="Picture 12">
            <a:extLst>
              <a:ext uri="{FF2B5EF4-FFF2-40B4-BE49-F238E27FC236}">
                <a16:creationId xmlns:a16="http://schemas.microsoft.com/office/drawing/2014/main" id="{0DAD1EB8-2DDB-A998-DD51-2306CA236D43}"/>
              </a:ext>
            </a:extLst>
          </p:cNvPr>
          <p:cNvPicPr>
            <a:picLocks noChangeAspect="1"/>
          </p:cNvPicPr>
          <p:nvPr/>
        </p:nvPicPr>
        <p:blipFill>
          <a:blip r:embed="rId5"/>
          <a:stretch>
            <a:fillRect/>
          </a:stretch>
        </p:blipFill>
        <p:spPr>
          <a:xfrm>
            <a:off x="4100698" y="4385211"/>
            <a:ext cx="2902033" cy="24270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2"/>
        </a:solidFill>
        <a:effectLst/>
      </p:bgPr>
    </p:bg>
    <p:spTree>
      <p:nvGrpSpPr>
        <p:cNvPr id="1" name=""/>
        <p:cNvGrpSpPr/>
        <p:nvPr/>
      </p:nvGrpSpPr>
      <p:grpSpPr>
        <a:xfrm>
          <a:off x="0" y="0"/>
          <a:ext cx="0" cy="0"/>
          <a:chOff x="0" y="0"/>
          <a:chExt cx="0" cy="0"/>
        </a:xfrm>
      </p:grpSpPr>
      <p:sp>
        <p:nvSpPr>
          <p:cNvPr id="3" name="Text 1"/>
          <p:cNvSpPr/>
          <p:nvPr/>
        </p:nvSpPr>
        <p:spPr>
          <a:xfrm>
            <a:off x="747751" y="357459"/>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42E"/>
                </a:solidFill>
                <a:latin typeface="Source Serif 4" pitchFamily="34" charset="0"/>
                <a:ea typeface="Source Serif 4" pitchFamily="34" charset="-122"/>
                <a:cs typeface="Source Serif 4" pitchFamily="34" charset="-120"/>
              </a:rPr>
              <a:t>Objectives</a:t>
            </a:r>
            <a:endParaRPr lang="en-US" sz="3600" dirty="0"/>
          </a:p>
        </p:txBody>
      </p:sp>
      <p:sp>
        <p:nvSpPr>
          <p:cNvPr id="4" name="Shape 2"/>
          <p:cNvSpPr/>
          <p:nvPr/>
        </p:nvSpPr>
        <p:spPr>
          <a:xfrm>
            <a:off x="571190" y="1266128"/>
            <a:ext cx="2489200" cy="1955800"/>
          </a:xfrm>
          <a:prstGeom prst="roundRect">
            <a:avLst>
              <a:gd name="adj" fmla="val 6494"/>
            </a:avLst>
          </a:prstGeom>
          <a:solidFill>
            <a:srgbClr val="FFFFFF"/>
          </a:solidFill>
          <a:ln/>
          <a:effectLst>
            <a:outerShdw blurRad="152400" dist="50800" dir="5400000" algn="bl" rotWithShape="0">
              <a:srgbClr val="16242E">
                <a:alpha val="8000"/>
              </a:srgbClr>
            </a:outerShdw>
          </a:effectLst>
        </p:spPr>
      </p:sp>
      <p:sp>
        <p:nvSpPr>
          <p:cNvPr id="5" name="Text 3"/>
          <p:cNvSpPr/>
          <p:nvPr/>
        </p:nvSpPr>
        <p:spPr>
          <a:xfrm>
            <a:off x="774390" y="1469328"/>
            <a:ext cx="2145284" cy="451346"/>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D9472F"/>
                </a:solidFill>
                <a:latin typeface="Source Serif 4" pitchFamily="34" charset="0"/>
                <a:ea typeface="Source Serif 4" pitchFamily="34" charset="-122"/>
                <a:cs typeface="Source Serif 4" pitchFamily="34" charset="-120"/>
              </a:rPr>
              <a:t>01</a:t>
            </a:r>
            <a:endParaRPr lang="en-US" sz="2400" dirty="0"/>
          </a:p>
        </p:txBody>
      </p:sp>
      <p:sp>
        <p:nvSpPr>
          <p:cNvPr id="6" name="Text 4"/>
          <p:cNvSpPr/>
          <p:nvPr/>
        </p:nvSpPr>
        <p:spPr>
          <a:xfrm>
            <a:off x="774390" y="1996874"/>
            <a:ext cx="2145284" cy="253603"/>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Clean and map-match</a:t>
            </a:r>
            <a:endParaRPr lang="en-US" sz="1500" dirty="0"/>
          </a:p>
        </p:txBody>
      </p:sp>
      <p:sp>
        <p:nvSpPr>
          <p:cNvPr id="7" name="Text 5"/>
          <p:cNvSpPr/>
          <p:nvPr/>
        </p:nvSpPr>
        <p:spPr>
          <a:xfrm>
            <a:off x="774390" y="2326677"/>
            <a:ext cx="2145284" cy="71745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Snap noisy GPS points onto OpenStreetMap roads.</a:t>
            </a:r>
            <a:endParaRPr lang="en-US" sz="1300" dirty="0"/>
          </a:p>
        </p:txBody>
      </p:sp>
      <p:sp>
        <p:nvSpPr>
          <p:cNvPr id="8" name="Shape 6"/>
          <p:cNvSpPr/>
          <p:nvPr/>
        </p:nvSpPr>
        <p:spPr>
          <a:xfrm>
            <a:off x="3263590" y="1266128"/>
            <a:ext cx="2489200" cy="1955800"/>
          </a:xfrm>
          <a:prstGeom prst="roundRect">
            <a:avLst>
              <a:gd name="adj" fmla="val 6494"/>
            </a:avLst>
          </a:prstGeom>
          <a:solidFill>
            <a:srgbClr val="FFFFFF"/>
          </a:solidFill>
          <a:ln/>
          <a:effectLst>
            <a:outerShdw blurRad="152400" dist="50800" dir="5400000" algn="bl" rotWithShape="0">
              <a:srgbClr val="16242E">
                <a:alpha val="8000"/>
              </a:srgbClr>
            </a:outerShdw>
          </a:effectLst>
        </p:spPr>
      </p:sp>
      <p:sp>
        <p:nvSpPr>
          <p:cNvPr id="9" name="Text 7"/>
          <p:cNvSpPr/>
          <p:nvPr/>
        </p:nvSpPr>
        <p:spPr>
          <a:xfrm>
            <a:off x="3466790" y="1469328"/>
            <a:ext cx="2145284"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D9472F"/>
                </a:solidFill>
                <a:latin typeface="Source Serif 4" pitchFamily="34" charset="0"/>
                <a:ea typeface="Source Serif 4" pitchFamily="34" charset="-122"/>
                <a:cs typeface="Source Serif 4" pitchFamily="34" charset="-120"/>
              </a:rPr>
              <a:t>02</a:t>
            </a:r>
            <a:endParaRPr lang="en-US" sz="2400" dirty="0"/>
          </a:p>
        </p:txBody>
      </p:sp>
      <p:sp>
        <p:nvSpPr>
          <p:cNvPr id="10" name="Text 8"/>
          <p:cNvSpPr/>
          <p:nvPr/>
        </p:nvSpPr>
        <p:spPr>
          <a:xfrm>
            <a:off x="3466790" y="1997569"/>
            <a:ext cx="21452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Extract features</a:t>
            </a:r>
            <a:endParaRPr lang="en-US" sz="1500" dirty="0"/>
          </a:p>
        </p:txBody>
      </p:sp>
      <p:sp>
        <p:nvSpPr>
          <p:cNvPr id="11" name="Text 9"/>
          <p:cNvSpPr/>
          <p:nvPr/>
        </p:nvSpPr>
        <p:spPr>
          <a:xfrm>
            <a:off x="3466790" y="2327769"/>
            <a:ext cx="214528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Speed, acceleration, stops and turns per ride.</a:t>
            </a:r>
            <a:endParaRPr lang="en-US" sz="1300" dirty="0"/>
          </a:p>
        </p:txBody>
      </p:sp>
      <p:sp>
        <p:nvSpPr>
          <p:cNvPr id="12" name="Shape 10"/>
          <p:cNvSpPr/>
          <p:nvPr/>
        </p:nvSpPr>
        <p:spPr>
          <a:xfrm>
            <a:off x="5955990" y="1266128"/>
            <a:ext cx="2489200" cy="1955800"/>
          </a:xfrm>
          <a:prstGeom prst="roundRect">
            <a:avLst>
              <a:gd name="adj" fmla="val 6494"/>
            </a:avLst>
          </a:prstGeom>
          <a:solidFill>
            <a:srgbClr val="FFFFFF"/>
          </a:solidFill>
          <a:ln/>
          <a:effectLst>
            <a:outerShdw blurRad="152400" dist="50800" dir="5400000" algn="bl" rotWithShape="0">
              <a:srgbClr val="16242E">
                <a:alpha val="8000"/>
              </a:srgbClr>
            </a:outerShdw>
          </a:effectLst>
        </p:spPr>
      </p:sp>
      <p:sp>
        <p:nvSpPr>
          <p:cNvPr id="13" name="Text 11"/>
          <p:cNvSpPr/>
          <p:nvPr/>
        </p:nvSpPr>
        <p:spPr>
          <a:xfrm>
            <a:off x="6159190" y="1469328"/>
            <a:ext cx="2145284"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D9472F"/>
                </a:solidFill>
                <a:latin typeface="Source Serif 4" pitchFamily="34" charset="0"/>
                <a:ea typeface="Source Serif 4" pitchFamily="34" charset="-122"/>
                <a:cs typeface="Source Serif 4" pitchFamily="34" charset="-120"/>
              </a:rPr>
              <a:t>03</a:t>
            </a:r>
            <a:endParaRPr lang="en-US" sz="2400" dirty="0"/>
          </a:p>
        </p:txBody>
      </p:sp>
      <p:sp>
        <p:nvSpPr>
          <p:cNvPr id="14" name="Text 12"/>
          <p:cNvSpPr/>
          <p:nvPr/>
        </p:nvSpPr>
        <p:spPr>
          <a:xfrm>
            <a:off x="6159190" y="1997569"/>
            <a:ext cx="21452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Find riding styles</a:t>
            </a:r>
            <a:endParaRPr lang="en-US" sz="1500" dirty="0"/>
          </a:p>
        </p:txBody>
      </p:sp>
      <p:sp>
        <p:nvSpPr>
          <p:cNvPr id="15" name="Text 13"/>
          <p:cNvSpPr/>
          <p:nvPr/>
        </p:nvSpPr>
        <p:spPr>
          <a:xfrm>
            <a:off x="6159190" y="2327769"/>
            <a:ext cx="214528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Cluster rides into distinct riding styles.</a:t>
            </a:r>
            <a:endParaRPr lang="en-US" sz="1300" dirty="0"/>
          </a:p>
        </p:txBody>
      </p:sp>
      <p:sp>
        <p:nvSpPr>
          <p:cNvPr id="16" name="Shape 14"/>
          <p:cNvSpPr/>
          <p:nvPr/>
        </p:nvSpPr>
        <p:spPr>
          <a:xfrm>
            <a:off x="8648390" y="1266128"/>
            <a:ext cx="2489200" cy="1955800"/>
          </a:xfrm>
          <a:prstGeom prst="roundRect">
            <a:avLst>
              <a:gd name="adj" fmla="val 6494"/>
            </a:avLst>
          </a:prstGeom>
          <a:solidFill>
            <a:srgbClr val="FFFFFF"/>
          </a:solidFill>
          <a:ln/>
          <a:effectLst>
            <a:outerShdw blurRad="152400" dist="50800" dir="5400000" algn="bl" rotWithShape="0">
              <a:srgbClr val="16242E">
                <a:alpha val="8000"/>
              </a:srgbClr>
            </a:outerShdw>
          </a:effectLst>
        </p:spPr>
      </p:sp>
      <p:sp>
        <p:nvSpPr>
          <p:cNvPr id="17" name="Text 15"/>
          <p:cNvSpPr/>
          <p:nvPr/>
        </p:nvSpPr>
        <p:spPr>
          <a:xfrm>
            <a:off x="8851590" y="1469328"/>
            <a:ext cx="2145284"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D9472F"/>
                </a:solidFill>
                <a:latin typeface="Source Serif 4" pitchFamily="34" charset="0"/>
                <a:ea typeface="Source Serif 4" pitchFamily="34" charset="-122"/>
                <a:cs typeface="Source Serif 4" pitchFamily="34" charset="-120"/>
              </a:rPr>
              <a:t>04</a:t>
            </a:r>
            <a:endParaRPr lang="en-US" sz="2400" dirty="0"/>
          </a:p>
        </p:txBody>
      </p:sp>
      <p:sp>
        <p:nvSpPr>
          <p:cNvPr id="18" name="Text 16"/>
          <p:cNvSpPr/>
          <p:nvPr/>
        </p:nvSpPr>
        <p:spPr>
          <a:xfrm>
            <a:off x="8851590" y="1997569"/>
            <a:ext cx="214528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Map hot spots</a:t>
            </a:r>
            <a:endParaRPr lang="en-US" sz="1500" dirty="0"/>
          </a:p>
        </p:txBody>
      </p:sp>
      <p:sp>
        <p:nvSpPr>
          <p:cNvPr id="19" name="Text 17"/>
          <p:cNvSpPr/>
          <p:nvPr/>
        </p:nvSpPr>
        <p:spPr>
          <a:xfrm>
            <a:off x="8851590" y="2327769"/>
            <a:ext cx="214528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Popular routes and junction hot spots.</a:t>
            </a:r>
            <a:endParaRPr lang="en-US" sz="1300" dirty="0"/>
          </a:p>
        </p:txBody>
      </p:sp>
      <p:pic>
        <p:nvPicPr>
          <p:cNvPr id="20" name="Image 0" descr="Rider using a GPS bike computer"/>
          <p:cNvPicPr>
            <a:picLocks noChangeAspect="1"/>
          </p:cNvPicPr>
          <p:nvPr/>
        </p:nvPicPr>
        <p:blipFill>
          <a:blip r:embed="rId3"/>
          <a:srcRect t="7061" b="7061"/>
          <a:stretch/>
        </p:blipFill>
        <p:spPr>
          <a:xfrm>
            <a:off x="664117" y="3526854"/>
            <a:ext cx="10566400" cy="2835672"/>
          </a:xfrm>
          <a:prstGeom prst="roundRect">
            <a:avLst>
              <a:gd name="adj" fmla="val 4479"/>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9472F"/>
        </a:solidFill>
        <a:effectLst/>
      </p:bgPr>
    </p:bg>
    <p:spTree>
      <p:nvGrpSpPr>
        <p:cNvPr id="1" name=""/>
        <p:cNvGrpSpPr/>
        <p:nvPr/>
      </p:nvGrpSpPr>
      <p:grpSpPr>
        <a:xfrm>
          <a:off x="0" y="0"/>
          <a:ext cx="0" cy="0"/>
          <a:chOff x="0" y="0"/>
          <a:chExt cx="0" cy="0"/>
        </a:xfrm>
      </p:grpSpPr>
      <p:pic>
        <p:nvPicPr>
          <p:cNvPr id="2" name="Image 0" descr="Rider view with speed, elevation and route data overlaid"/>
          <p:cNvPicPr>
            <a:picLocks noChangeAspect="1"/>
          </p:cNvPicPr>
          <p:nvPr/>
        </p:nvPicPr>
        <p:blipFill>
          <a:blip r:embed="rId3"/>
          <a:srcRect l="29167" r="29167"/>
          <a:stretch/>
        </p:blipFill>
        <p:spPr>
          <a:xfrm>
            <a:off x="7112000" y="0"/>
            <a:ext cx="5080000" cy="6858000"/>
          </a:xfrm>
          <a:prstGeom prst="rect">
            <a:avLst/>
          </a:prstGeom>
        </p:spPr>
      </p:pic>
      <p:sp>
        <p:nvSpPr>
          <p:cNvPr id="4" name="Text 1"/>
          <p:cNvSpPr/>
          <p:nvPr/>
        </p:nvSpPr>
        <p:spPr>
          <a:xfrm>
            <a:off x="613317" y="2462561"/>
            <a:ext cx="12557760"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FDF6F2"/>
                </a:solidFill>
                <a:latin typeface="Inter" pitchFamily="34" charset="0"/>
                <a:ea typeface="Inter" pitchFamily="34" charset="-122"/>
                <a:cs typeface="Inter" pitchFamily="34" charset="-120"/>
              </a:rPr>
              <a:t>SOCIETAL IMPORTANCE</a:t>
            </a:r>
            <a:endParaRPr lang="en-US" sz="1400" dirty="0"/>
          </a:p>
        </p:txBody>
      </p:sp>
      <p:sp>
        <p:nvSpPr>
          <p:cNvPr id="5" name="Text 2"/>
          <p:cNvSpPr/>
          <p:nvPr/>
        </p:nvSpPr>
        <p:spPr>
          <a:xfrm>
            <a:off x="613317" y="506141"/>
            <a:ext cx="6053744" cy="177800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FDF6F2"/>
                </a:solidFill>
                <a:latin typeface="Source Serif 4" pitchFamily="34" charset="0"/>
                <a:ea typeface="Source Serif 4"/>
                <a:cs typeface="Source Serif 4" pitchFamily="34" charset="-120"/>
              </a:rPr>
              <a:t>Cities</a:t>
            </a:r>
            <a:r>
              <a:rPr lang="en-US" sz="3000" b="1" dirty="0">
                <a:solidFill>
                  <a:srgbClr val="FDF6F2"/>
                </a:solidFill>
                <a:latin typeface="Source Serif 4"/>
                <a:ea typeface="Source Serif 4"/>
                <a:cs typeface="Source Serif 4" pitchFamily="34" charset="-120"/>
              </a:rPr>
              <a:t> where cyclists actually ride, stop and feel unsafe, so fixes go where they matter.</a:t>
            </a:r>
            <a:endParaRPr lang="en-US" sz="3000" dirty="0">
              <a:latin typeface="Source Serif 4"/>
              <a:ea typeface="Source Serif 4"/>
            </a:endParaRPr>
          </a:p>
        </p:txBody>
      </p:sp>
      <p:sp>
        <p:nvSpPr>
          <p:cNvPr id="6" name="Text 3"/>
          <p:cNvSpPr/>
          <p:nvPr/>
        </p:nvSpPr>
        <p:spPr>
          <a:xfrm>
            <a:off x="399585" y="3564828"/>
            <a:ext cx="6906768" cy="64135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DF6F2"/>
                </a:solidFill>
                <a:latin typeface="Inter" pitchFamily="34" charset="0"/>
                <a:ea typeface="Inter" pitchFamily="34" charset="-122"/>
                <a:cs typeface="Inter" pitchFamily="34" charset="-120"/>
              </a:rPr>
              <a:t>Berlin already shares SimRa data with its transport and environment department to reduce dangerous spots.</a:t>
            </a:r>
            <a:endParaRPr lang="en-US" sz="1400" dirty="0"/>
          </a:p>
        </p:txBody>
      </p:sp>
      <p:sp>
        <p:nvSpPr>
          <p:cNvPr id="7" name="Text 4"/>
          <p:cNvSpPr/>
          <p:nvPr/>
        </p:nvSpPr>
        <p:spPr>
          <a:xfrm>
            <a:off x="399585" y="4546910"/>
            <a:ext cx="12557760" cy="25400"/>
          </a:xfrm>
          <a:prstGeom prst="rect">
            <a:avLst/>
          </a:prstGeom>
          <a:noFill/>
          <a:ln/>
        </p:spPr>
        <p:txBody>
          <a:bodyPr wrap="square" lIns="0" tIns="0" rIns="0" bIns="0" rtlCol="0" anchor="t">
            <a:noAutofit/>
          </a:bodyPr>
          <a:lstStyle/>
          <a:p>
            <a:pPr marL="0" indent="0" algn="l">
              <a:lnSpc>
                <a:spcPts val="1176"/>
              </a:lnSpc>
              <a:buNone/>
            </a:pPr>
            <a:r>
              <a:rPr lang="en-US" sz="1400" dirty="0">
                <a:solidFill>
                  <a:srgbClr val="FDF6F2"/>
                </a:solidFill>
                <a:latin typeface="Inter"/>
                <a:ea typeface="Inter"/>
                <a:cs typeface="Inter" pitchFamily="34" charset="-120"/>
              </a:rPr>
              <a:t>The same method works for any city with bike ride data, including Nashville.</a:t>
            </a:r>
            <a:endParaRPr lang="en-US" sz="1400">
              <a:latin typeface="Calibri"/>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2"/>
        </a:solidFill>
        <a:effectLst/>
      </p:bgPr>
    </p:bg>
    <p:spTree>
      <p:nvGrpSpPr>
        <p:cNvPr id="1" name=""/>
        <p:cNvGrpSpPr/>
        <p:nvPr/>
      </p:nvGrpSpPr>
      <p:grpSpPr>
        <a:xfrm>
          <a:off x="0" y="0"/>
          <a:ext cx="0" cy="0"/>
          <a:chOff x="0" y="0"/>
          <a:chExt cx="0" cy="0"/>
        </a:xfrm>
      </p:grpSpPr>
      <p:sp>
        <p:nvSpPr>
          <p:cNvPr id="2" name="Text 0"/>
          <p:cNvSpPr/>
          <p:nvPr/>
        </p:nvSpPr>
        <p:spPr>
          <a:xfrm>
            <a:off x="812800" y="5080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42E"/>
                </a:solidFill>
                <a:latin typeface="Source Serif 4" pitchFamily="34" charset="0"/>
                <a:ea typeface="Source Serif 4" pitchFamily="34" charset="-122"/>
                <a:cs typeface="Source Serif 4" pitchFamily="34" charset="-120"/>
              </a:rPr>
              <a:t>Data source: SimRa (TU Berlin)</a:t>
            </a:r>
            <a:endParaRPr lang="en-US" sz="3600" dirty="0"/>
          </a:p>
        </p:txBody>
      </p:sp>
      <p:sp>
        <p:nvSpPr>
          <p:cNvPr id="3" name="Text 1"/>
          <p:cNvSpPr/>
          <p:nvPr/>
        </p:nvSpPr>
        <p:spPr>
          <a:xfrm>
            <a:off x="812800" y="1315641"/>
            <a:ext cx="5860288"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42E"/>
                </a:solidFill>
                <a:latin typeface="Inter" pitchFamily="34" charset="0"/>
                <a:ea typeface="Inter" pitchFamily="34" charset="-122"/>
                <a:cs typeface="Inter" pitchFamily="34" charset="-120"/>
              </a:rPr>
              <a:t>A public, crowdsourced dataset. Cyclists record rides with the SimRa phone app and tag near-miss incidents afterward. </a:t>
            </a:r>
            <a:endParaRPr lang="en-US" sz="1600" dirty="0"/>
          </a:p>
        </p:txBody>
      </p:sp>
      <p:sp>
        <p:nvSpPr>
          <p:cNvPr id="4" name="Text 2"/>
          <p:cNvSpPr/>
          <p:nvPr/>
        </p:nvSpPr>
        <p:spPr>
          <a:xfrm>
            <a:off x="812800" y="2346821"/>
            <a:ext cx="5860288" cy="825500"/>
          </a:xfrm>
          <a:prstGeom prst="rect">
            <a:avLst/>
          </a:prstGeom>
          <a:noFill/>
          <a:ln/>
        </p:spPr>
        <p:txBody>
          <a:bodyPr wrap="square" lIns="0" tIns="0" rIns="0" bIns="0" rtlCol="0" anchor="t">
            <a:normAutofit/>
          </a:bodyPr>
          <a:lstStyle/>
          <a:p>
            <a:pPr marL="213360" indent="-168910">
              <a:lnSpc>
                <a:spcPts val="2100"/>
              </a:lnSpc>
              <a:buSzPct val="100000"/>
              <a:buChar char="•"/>
            </a:pPr>
            <a:r>
              <a:rPr lang="en-US" sz="1400" dirty="0">
                <a:solidFill>
                  <a:srgbClr val="3D4A52"/>
                </a:solidFill>
                <a:latin typeface="Inter"/>
                <a:ea typeface="Inter"/>
                <a:cs typeface="Inter" pitchFamily="34" charset="-120"/>
              </a:rPr>
              <a:t>Recent rides on GitHub: </a:t>
            </a:r>
            <a:r>
              <a:rPr lang="en-US" sz="1400" dirty="0">
                <a:solidFill>
                  <a:schemeClr val="accent1"/>
                </a:solidFill>
                <a:latin typeface="Inter"/>
                <a:ea typeface="Inter"/>
                <a:cs typeface="Inter" pitchFamily="34" charset="-120"/>
              </a:rPr>
              <a:t>github.com/</a:t>
            </a:r>
            <a:r>
              <a:rPr lang="en-US" sz="1400" dirty="0" err="1">
                <a:solidFill>
                  <a:schemeClr val="accent1"/>
                </a:solidFill>
                <a:latin typeface="Inter"/>
                <a:ea typeface="Inter"/>
                <a:cs typeface="Inter" pitchFamily="34" charset="-120"/>
              </a:rPr>
              <a:t>simra</a:t>
            </a:r>
            <a:r>
              <a:rPr lang="en-US" sz="1400" dirty="0">
                <a:solidFill>
                  <a:schemeClr val="accent1"/>
                </a:solidFill>
                <a:latin typeface="Inter"/>
                <a:ea typeface="Inter"/>
                <a:cs typeface="Inter" pitchFamily="34" charset="-120"/>
              </a:rPr>
              <a:t>-project/dataset  </a:t>
            </a:r>
            <a:endParaRPr lang="en-US" sz="1400" dirty="0">
              <a:solidFill>
                <a:schemeClr val="accent1"/>
              </a:solidFill>
              <a:latin typeface="Inter"/>
              <a:ea typeface="Calibri" panose="020F0502020204030204"/>
              <a:cs typeface="Calibri" panose="020F0502020204030204"/>
            </a:endParaRPr>
          </a:p>
          <a:p>
            <a:pPr marL="213360" indent="-169418" algn="l">
              <a:lnSpc>
                <a:spcPts val="2100"/>
              </a:lnSpc>
              <a:buSzPct val="100000"/>
              <a:buChar char="•"/>
            </a:pPr>
            <a:r>
              <a:rPr lang="en-US" sz="1400" dirty="0">
                <a:solidFill>
                  <a:srgbClr val="3D4A52"/>
                </a:solidFill>
                <a:latin typeface="Inter" pitchFamily="34" charset="0"/>
                <a:ea typeface="Inter" pitchFamily="34" charset="-122"/>
                <a:cs typeface="Inter" pitchFamily="34" charset="-120"/>
              </a:rPr>
              <a:t>Older bulk releases on DepositOnce (2019 to 2025)</a:t>
            </a:r>
            <a:endParaRPr lang="en-US" sz="1400" dirty="0"/>
          </a:p>
          <a:p>
            <a:pPr marL="213360" indent="-169418" algn="l">
              <a:lnSpc>
                <a:spcPts val="2100"/>
              </a:lnSpc>
              <a:buSzPct val="100000"/>
              <a:buChar char="•"/>
            </a:pPr>
            <a:r>
              <a:rPr lang="en-US" sz="1400" dirty="0">
                <a:solidFill>
                  <a:srgbClr val="3D4A52"/>
                </a:solidFill>
                <a:latin typeface="Inter" pitchFamily="34" charset="0"/>
                <a:ea typeface="Inter" pitchFamily="34" charset="-122"/>
                <a:cs typeface="Inter" pitchFamily="34" charset="-120"/>
              </a:rPr>
              <a:t>Secondary: OpenStreetMap Berlin road network (Geofabrik)</a:t>
            </a:r>
            <a:endParaRPr lang="en-US" sz="1400" dirty="0"/>
          </a:p>
        </p:txBody>
      </p:sp>
      <p:sp>
        <p:nvSpPr>
          <p:cNvPr id="5" name="Text 3"/>
          <p:cNvSpPr/>
          <p:nvPr/>
        </p:nvSpPr>
        <p:spPr>
          <a:xfrm>
            <a:off x="812800" y="3256141"/>
            <a:ext cx="6317488" cy="5561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D6B73"/>
                </a:solidFill>
                <a:latin typeface="Inter"/>
                <a:ea typeface="Inter" pitchFamily="34" charset="-122"/>
                <a:cs typeface="Inter" pitchFamily="34" charset="-120"/>
              </a:rPr>
              <a:t>For this midterm we analyzed one full monthly GitHub batch:</a:t>
            </a:r>
            <a:r>
              <a:rPr lang="en-US" sz="1300" b="1" dirty="0">
                <a:solidFill>
                  <a:srgbClr val="5D6B73"/>
                </a:solidFill>
                <a:latin typeface="Inter"/>
                <a:ea typeface="Inter" pitchFamily="34" charset="-122"/>
                <a:cs typeface="Inter" pitchFamily="34" charset="-120"/>
              </a:rPr>
              <a:t> the June 2023 upload.</a:t>
            </a:r>
          </a:p>
          <a:p>
            <a:pPr>
              <a:lnSpc>
                <a:spcPts val="1820"/>
              </a:lnSpc>
            </a:pPr>
            <a:endParaRPr lang="en-US" sz="1300" b="1" dirty="0">
              <a:solidFill>
                <a:srgbClr val="5D6B73"/>
              </a:solidFill>
              <a:latin typeface="Inter"/>
              <a:ea typeface="Calibri"/>
              <a:cs typeface="Calibri"/>
            </a:endParaRPr>
          </a:p>
          <a:p>
            <a:pPr>
              <a:lnSpc>
                <a:spcPts val="1820"/>
              </a:lnSpc>
            </a:pPr>
            <a:endParaRPr lang="en-US" sz="1300" b="1" dirty="0">
              <a:solidFill>
                <a:srgbClr val="5D6B73"/>
              </a:solidFill>
              <a:latin typeface="Inter"/>
              <a:ea typeface="Calibri"/>
              <a:cs typeface="Calibri"/>
            </a:endParaRPr>
          </a:p>
        </p:txBody>
      </p:sp>
      <p:sp>
        <p:nvSpPr>
          <p:cNvPr id="6" name="Text 4"/>
          <p:cNvSpPr/>
          <p:nvPr/>
        </p:nvSpPr>
        <p:spPr>
          <a:xfrm>
            <a:off x="7279640" y="1650921"/>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D6B73"/>
                </a:solidFill>
                <a:latin typeface="Inter" pitchFamily="34" charset="0"/>
                <a:ea typeface="Inter" pitchFamily="34" charset="-122"/>
                <a:cs typeface="Inter" pitchFamily="34" charset="-120"/>
              </a:rPr>
              <a:t>ONE RIDE FILE (TEXT, CSV BLOCKS)</a:t>
            </a:r>
            <a:endParaRPr lang="en-US" sz="1200" dirty="0"/>
          </a:p>
        </p:txBody>
      </p:sp>
      <p:sp>
        <p:nvSpPr>
          <p:cNvPr id="7" name="Shape 5"/>
          <p:cNvSpPr/>
          <p:nvPr/>
        </p:nvSpPr>
        <p:spPr>
          <a:xfrm>
            <a:off x="7285990" y="1972191"/>
            <a:ext cx="4559300" cy="1074341"/>
          </a:xfrm>
          <a:prstGeom prst="roundRect">
            <a:avLst>
              <a:gd name="adj" fmla="val 8866"/>
            </a:avLst>
          </a:prstGeom>
          <a:solidFill>
            <a:srgbClr val="FFFFFF"/>
          </a:solidFill>
          <a:ln w="12700">
            <a:solidFill>
              <a:srgbClr val="D9472F"/>
            </a:solidFill>
            <a:prstDash val="solid"/>
          </a:ln>
        </p:spPr>
      </p:sp>
      <p:sp>
        <p:nvSpPr>
          <p:cNvPr id="8" name="Text 6"/>
          <p:cNvSpPr/>
          <p:nvPr/>
        </p:nvSpPr>
        <p:spPr>
          <a:xfrm>
            <a:off x="7495540" y="2156341"/>
            <a:ext cx="426440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D9472F"/>
                </a:solidFill>
                <a:latin typeface="Inter" pitchFamily="34" charset="0"/>
                <a:ea typeface="Inter" pitchFamily="34" charset="-122"/>
                <a:cs typeface="Inter" pitchFamily="34" charset="-120"/>
              </a:rPr>
              <a:t>Incident block</a:t>
            </a:r>
            <a:endParaRPr lang="en-US" sz="1500" dirty="0"/>
          </a:p>
        </p:txBody>
      </p:sp>
      <p:sp>
        <p:nvSpPr>
          <p:cNvPr id="9" name="Text 7"/>
          <p:cNvSpPr/>
          <p:nvPr/>
        </p:nvSpPr>
        <p:spPr>
          <a:xfrm>
            <a:off x="7495540" y="2435741"/>
            <a:ext cx="42644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6242E"/>
                </a:solidFill>
                <a:latin typeface="Courier New" pitchFamily="34" charset="0"/>
                <a:ea typeface="Courier New" pitchFamily="34" charset="-122"/>
                <a:cs typeface="Courier New" pitchFamily="34" charset="-120"/>
              </a:rPr>
              <a:t>lat, lon, ts, bike, pLoc, incident, i1..i10, scary</a:t>
            </a:r>
            <a:endParaRPr lang="en-US" sz="1200" dirty="0"/>
          </a:p>
        </p:txBody>
      </p:sp>
      <p:sp>
        <p:nvSpPr>
          <p:cNvPr id="10" name="Shape 8"/>
          <p:cNvSpPr/>
          <p:nvPr/>
        </p:nvSpPr>
        <p:spPr>
          <a:xfrm>
            <a:off x="7295282" y="3793354"/>
            <a:ext cx="4559300" cy="1338461"/>
          </a:xfrm>
          <a:prstGeom prst="roundRect">
            <a:avLst>
              <a:gd name="adj" fmla="val 7116"/>
            </a:avLst>
          </a:prstGeom>
          <a:solidFill>
            <a:srgbClr val="16242E"/>
          </a:solidFill>
          <a:ln w="12700">
            <a:solidFill>
              <a:srgbClr val="16242E"/>
            </a:solidFill>
            <a:prstDash val="solid"/>
          </a:ln>
        </p:spPr>
      </p:sp>
      <p:sp>
        <p:nvSpPr>
          <p:cNvPr id="11" name="Text 9"/>
          <p:cNvSpPr/>
          <p:nvPr/>
        </p:nvSpPr>
        <p:spPr>
          <a:xfrm>
            <a:off x="7430491" y="3828821"/>
            <a:ext cx="426440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FD3C6"/>
                </a:solidFill>
                <a:latin typeface="Inter" pitchFamily="34" charset="0"/>
                <a:ea typeface="Inter" pitchFamily="34" charset="-122"/>
                <a:cs typeface="Inter" pitchFamily="34" charset="-120"/>
              </a:rPr>
              <a:t>Ride time series</a:t>
            </a:r>
            <a:endParaRPr lang="en-US" sz="1500" dirty="0"/>
          </a:p>
        </p:txBody>
      </p:sp>
      <p:sp>
        <p:nvSpPr>
          <p:cNvPr id="12" name="Text 10"/>
          <p:cNvSpPr/>
          <p:nvPr/>
        </p:nvSpPr>
        <p:spPr>
          <a:xfrm>
            <a:off x="7504832" y="4256904"/>
            <a:ext cx="42644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3F5F2"/>
                </a:solidFill>
                <a:latin typeface="Courier New" pitchFamily="34" charset="0"/>
                <a:ea typeface="Courier New" pitchFamily="34" charset="-122"/>
                <a:cs typeface="Courier New" pitchFamily="34" charset="-120"/>
              </a:rPr>
              <a:t>lat, lon, X, Y, Z, timeStamp, acc, a, b, c</a:t>
            </a:r>
            <a:endParaRPr lang="en-US" sz="1200" dirty="0"/>
          </a:p>
        </p:txBody>
      </p:sp>
      <p:sp>
        <p:nvSpPr>
          <p:cNvPr id="13" name="Text 11"/>
          <p:cNvSpPr/>
          <p:nvPr/>
        </p:nvSpPr>
        <p:spPr>
          <a:xfrm>
            <a:off x="7504832" y="4521024"/>
            <a:ext cx="42644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7D0CC"/>
                </a:solidFill>
                <a:latin typeface="Inter" pitchFamily="34" charset="0"/>
                <a:ea typeface="Inter" pitchFamily="34" charset="-122"/>
                <a:cs typeface="Inter" pitchFamily="34" charset="-120"/>
              </a:rPr>
              <a:t>GPS about every 3 s; accelerometer and gyroscope rows in between</a:t>
            </a:r>
            <a:endParaRPr lang="en-US" sz="1200" dirty="0"/>
          </a:p>
        </p:txBody>
      </p:sp>
      <p:sp>
        <p:nvSpPr>
          <p:cNvPr id="14" name="Text 12"/>
          <p:cNvSpPr/>
          <p:nvPr/>
        </p:nvSpPr>
        <p:spPr>
          <a:xfrm>
            <a:off x="7288932" y="5239765"/>
            <a:ext cx="4709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3"/>
                </a:solidFill>
                <a:latin typeface="Inter" pitchFamily="34" charset="0"/>
                <a:ea typeface="Inter" pitchFamily="34" charset="-122"/>
                <a:cs typeface="Inter" pitchFamily="34" charset="-120"/>
              </a:rPr>
              <a:t>Plus a separate profile file per user (age group, experience)</a:t>
            </a:r>
            <a:endParaRPr lang="en-US" sz="1200" dirty="0"/>
          </a:p>
        </p:txBody>
      </p:sp>
      <p:pic>
        <p:nvPicPr>
          <p:cNvPr id="16" name="Picture 15" descr="SimRa- Safety in Bicycle Traffic">
            <a:extLst>
              <a:ext uri="{FF2B5EF4-FFF2-40B4-BE49-F238E27FC236}">
                <a16:creationId xmlns:a16="http://schemas.microsoft.com/office/drawing/2014/main" id="{D8AE2C20-0959-B9A0-5974-E33863FB2129}"/>
              </a:ext>
            </a:extLst>
          </p:cNvPr>
          <p:cNvPicPr>
            <a:picLocks noChangeAspect="1"/>
          </p:cNvPicPr>
          <p:nvPr/>
        </p:nvPicPr>
        <p:blipFill>
          <a:blip r:embed="rId3"/>
          <a:stretch>
            <a:fillRect/>
          </a:stretch>
        </p:blipFill>
        <p:spPr>
          <a:xfrm>
            <a:off x="815340" y="3770630"/>
            <a:ext cx="3733800" cy="28371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AA1392-AAE3-41B7-60D4-512830335703}"/>
              </a:ext>
            </a:extLst>
          </p:cNvPr>
          <p:cNvPicPr>
            <a:picLocks noChangeAspect="1"/>
          </p:cNvPicPr>
          <p:nvPr/>
        </p:nvPicPr>
        <p:blipFill>
          <a:blip r:embed="rId3"/>
          <a:stretch>
            <a:fillRect/>
          </a:stretch>
        </p:blipFill>
        <p:spPr>
          <a:xfrm>
            <a:off x="-1585" y="0"/>
            <a:ext cx="5505561" cy="6858000"/>
          </a:xfrm>
          <a:prstGeom prst="rect">
            <a:avLst/>
          </a:prstGeom>
        </p:spPr>
      </p:pic>
      <p:sp>
        <p:nvSpPr>
          <p:cNvPr id="5" name="TextBox 4">
            <a:extLst>
              <a:ext uri="{FF2B5EF4-FFF2-40B4-BE49-F238E27FC236}">
                <a16:creationId xmlns:a16="http://schemas.microsoft.com/office/drawing/2014/main" id="{C3BF09DF-7D58-D022-DC5C-FC061B91C497}"/>
              </a:ext>
            </a:extLst>
          </p:cNvPr>
          <p:cNvSpPr txBox="1"/>
          <p:nvPr/>
        </p:nvSpPr>
        <p:spPr>
          <a:xfrm>
            <a:off x="5937662" y="524493"/>
            <a:ext cx="6066311" cy="55399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u="sng" dirty="0">
                <a:ea typeface="Calibri"/>
                <a:cs typeface="Calibri"/>
              </a:rPr>
              <a:t>3 Data Files per month</a:t>
            </a:r>
            <a:endParaRPr lang="en-US" sz="2800" dirty="0">
              <a:ea typeface="Calibri"/>
              <a:cs typeface="Calibri"/>
            </a:endParaRPr>
          </a:p>
          <a:p>
            <a:endParaRPr lang="en-US" sz="2800" b="1" dirty="0">
              <a:ea typeface="+mn-lt"/>
              <a:cs typeface="+mn-lt"/>
            </a:endParaRPr>
          </a:p>
          <a:p>
            <a:r>
              <a:rPr lang="en-US" sz="2800" b="1" dirty="0">
                <a:ea typeface="+mn-lt"/>
                <a:cs typeface="+mn-lt"/>
              </a:rPr>
              <a:t>1.) points.csv</a:t>
            </a:r>
            <a:r>
              <a:rPr lang="en-US" sz="2800" dirty="0">
                <a:ea typeface="+mn-lt"/>
                <a:cs typeface="+mn-lt"/>
              </a:rPr>
              <a:t>: every cleaned GPS point (used for the map)</a:t>
            </a:r>
            <a:endParaRPr lang="en-US" sz="2800" dirty="0">
              <a:ea typeface="Calibri" panose="020F0502020204030204"/>
              <a:cs typeface="Calibri" panose="020F0502020204030204"/>
            </a:endParaRPr>
          </a:p>
          <a:p>
            <a:pPr marL="285750" indent="-285750">
              <a:buFont typeface="Arial"/>
              <a:buChar char="•"/>
            </a:pPr>
            <a:endParaRPr lang="en-US" sz="2800" b="1" dirty="0">
              <a:ea typeface="+mn-lt"/>
              <a:cs typeface="+mn-lt"/>
            </a:endParaRPr>
          </a:p>
          <a:p>
            <a:pPr marL="285750" indent="-285750">
              <a:buFont typeface="Arial"/>
              <a:buChar char="•"/>
            </a:pPr>
            <a:endParaRPr lang="en-US" sz="2800" b="1" dirty="0">
              <a:ea typeface="+mn-lt"/>
              <a:cs typeface="+mn-lt"/>
            </a:endParaRPr>
          </a:p>
          <a:p>
            <a:r>
              <a:rPr lang="en-US" sz="2800" b="1" dirty="0">
                <a:ea typeface="+mn-lt"/>
                <a:cs typeface="+mn-lt"/>
              </a:rPr>
              <a:t>2.) rides_cl.csv</a:t>
            </a:r>
            <a:r>
              <a:rPr lang="en-US" sz="2800" dirty="0">
                <a:ea typeface="+mn-lt"/>
                <a:cs typeface="+mn-lt"/>
              </a:rPr>
              <a:t>: one row per ride with speed, stops, turns, and cluster</a:t>
            </a:r>
            <a:endParaRPr lang="en-US" sz="2800" dirty="0">
              <a:ea typeface="Calibri" panose="020F0502020204030204"/>
              <a:cs typeface="Calibri" panose="020F0502020204030204"/>
            </a:endParaRPr>
          </a:p>
          <a:p>
            <a:pPr marL="285750" indent="-285750">
              <a:buFont typeface="Arial"/>
              <a:buChar char="•"/>
            </a:pPr>
            <a:endParaRPr lang="en-US" sz="2800" b="1" dirty="0">
              <a:ea typeface="+mn-lt"/>
              <a:cs typeface="+mn-lt"/>
            </a:endParaRPr>
          </a:p>
          <a:p>
            <a:pPr marL="285750" indent="-285750">
              <a:buFont typeface="Arial"/>
              <a:buChar char="•"/>
            </a:pPr>
            <a:endParaRPr lang="en-US" sz="2800" b="1" dirty="0">
              <a:ea typeface="+mn-lt"/>
              <a:cs typeface="+mn-lt"/>
            </a:endParaRPr>
          </a:p>
          <a:p>
            <a:r>
              <a:rPr lang="en-US" sz="2800" b="1" dirty="0">
                <a:ea typeface="+mn-lt"/>
                <a:cs typeface="+mn-lt"/>
              </a:rPr>
              <a:t>3.) incidents.csv</a:t>
            </a:r>
            <a:r>
              <a:rPr lang="en-US" sz="2800" dirty="0">
                <a:ea typeface="+mn-lt"/>
                <a:cs typeface="+mn-lt"/>
              </a:rPr>
              <a:t>: every near-miss riders reported, with type and scary flag</a:t>
            </a:r>
            <a:endParaRPr lang="en-US" sz="2800">
              <a:ea typeface="Calibri"/>
              <a:cs typeface="Calibri"/>
            </a:endParaRPr>
          </a:p>
          <a:p>
            <a:endParaRPr lang="en-US" dirty="0">
              <a:ea typeface="Calibri"/>
              <a:cs typeface="Calibri"/>
            </a:endParaRPr>
          </a:p>
        </p:txBody>
      </p:sp>
    </p:spTree>
    <p:extLst>
      <p:ext uri="{BB962C8B-B14F-4D97-AF65-F5344CB8AC3E}">
        <p14:creationId xmlns:p14="http://schemas.microsoft.com/office/powerpoint/2010/main" val="4193007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A806C-219F-6FC7-CD72-F482017178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DDD109E-C02D-1863-FEC4-1107924F8548}"/>
              </a:ext>
            </a:extLst>
          </p:cNvPr>
          <p:cNvPicPr>
            <a:picLocks noChangeAspect="1"/>
          </p:cNvPicPr>
          <p:nvPr/>
        </p:nvPicPr>
        <p:blipFill>
          <a:blip r:embed="rId3"/>
          <a:stretch>
            <a:fillRect/>
          </a:stretch>
        </p:blipFill>
        <p:spPr>
          <a:xfrm>
            <a:off x="14522" y="0"/>
            <a:ext cx="12175152" cy="6858000"/>
          </a:xfrm>
          <a:prstGeom prst="rect">
            <a:avLst/>
          </a:prstGeom>
        </p:spPr>
      </p:pic>
    </p:spTree>
    <p:extLst>
      <p:ext uri="{BB962C8B-B14F-4D97-AF65-F5344CB8AC3E}">
        <p14:creationId xmlns:p14="http://schemas.microsoft.com/office/powerpoint/2010/main" val="4152952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D41F9-2944-B884-A6A6-87A9E5EF473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A79098B-92EA-8397-2CBC-CC06B4E17D2B}"/>
              </a:ext>
            </a:extLst>
          </p:cNvPr>
          <p:cNvPicPr>
            <a:picLocks noChangeAspect="1"/>
          </p:cNvPicPr>
          <p:nvPr/>
        </p:nvPicPr>
        <p:blipFill>
          <a:blip r:embed="rId3"/>
          <a:stretch>
            <a:fillRect/>
          </a:stretch>
        </p:blipFill>
        <p:spPr>
          <a:xfrm>
            <a:off x="1342" y="0"/>
            <a:ext cx="12189316" cy="6858000"/>
          </a:xfrm>
          <a:prstGeom prst="rect">
            <a:avLst/>
          </a:prstGeom>
        </p:spPr>
      </p:pic>
    </p:spTree>
    <p:extLst>
      <p:ext uri="{BB962C8B-B14F-4D97-AF65-F5344CB8AC3E}">
        <p14:creationId xmlns:p14="http://schemas.microsoft.com/office/powerpoint/2010/main" val="3452700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6242E"/>
        </a:solidFill>
        <a:effectLst/>
      </p:bgPr>
    </p:bg>
    <p:spTree>
      <p:nvGrpSpPr>
        <p:cNvPr id="1" name=""/>
        <p:cNvGrpSpPr/>
        <p:nvPr/>
      </p:nvGrpSpPr>
      <p:grpSpPr>
        <a:xfrm>
          <a:off x="0" y="0"/>
          <a:ext cx="0" cy="0"/>
          <a:chOff x="0" y="0"/>
          <a:chExt cx="0" cy="0"/>
        </a:xfrm>
      </p:grpSpPr>
      <p:sp>
        <p:nvSpPr>
          <p:cNvPr id="2" name="Text 0"/>
          <p:cNvSpPr/>
          <p:nvPr/>
        </p:nvSpPr>
        <p:spPr>
          <a:xfrm>
            <a:off x="812800" y="636239"/>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3F5F2"/>
                </a:solidFill>
                <a:latin typeface="Source Serif 4" pitchFamily="34" charset="0"/>
                <a:ea typeface="Source Serif 4" pitchFamily="34" charset="-122"/>
                <a:cs typeface="Source Serif 4" pitchFamily="34" charset="-120"/>
              </a:rPr>
              <a:t>Data description</a:t>
            </a:r>
            <a:endParaRPr lang="en-US" sz="3600" dirty="0"/>
          </a:p>
        </p:txBody>
      </p:sp>
      <p:sp>
        <p:nvSpPr>
          <p:cNvPr id="3" name="Shape 1"/>
          <p:cNvSpPr/>
          <p:nvPr/>
        </p:nvSpPr>
        <p:spPr>
          <a:xfrm>
            <a:off x="812800" y="1620441"/>
            <a:ext cx="2508250" cy="1291530"/>
          </a:xfrm>
          <a:prstGeom prst="roundRect">
            <a:avLst>
              <a:gd name="adj" fmla="val 9833"/>
            </a:avLst>
          </a:prstGeom>
          <a:solidFill>
            <a:srgbClr val="1F3240"/>
          </a:solidFill>
          <a:ln/>
        </p:spPr>
      </p:sp>
      <p:sp>
        <p:nvSpPr>
          <p:cNvPr id="4" name="Text 2"/>
          <p:cNvSpPr/>
          <p:nvPr/>
        </p:nvSpPr>
        <p:spPr>
          <a:xfrm>
            <a:off x="1041400" y="1849041"/>
            <a:ext cx="2112582"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F3F5F2"/>
                </a:solidFill>
                <a:latin typeface="Source Serif 4" pitchFamily="34" charset="0"/>
                <a:ea typeface="Source Serif 4" pitchFamily="34" charset="-122"/>
                <a:cs typeface="Source Serif 4" pitchFamily="34" charset="-120"/>
              </a:rPr>
              <a:t>877</a:t>
            </a:r>
            <a:endParaRPr lang="en-US" sz="3200" dirty="0"/>
          </a:p>
        </p:txBody>
      </p:sp>
      <p:sp>
        <p:nvSpPr>
          <p:cNvPr id="5" name="Text 3"/>
          <p:cNvSpPr/>
          <p:nvPr/>
        </p:nvSpPr>
        <p:spPr>
          <a:xfrm>
            <a:off x="1041400" y="2468761"/>
            <a:ext cx="211258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7D0CC"/>
                </a:solidFill>
                <a:latin typeface="Inter" pitchFamily="34" charset="0"/>
                <a:ea typeface="Inter" pitchFamily="34" charset="-122"/>
                <a:cs typeface="Inter" pitchFamily="34" charset="-120"/>
              </a:rPr>
              <a:t>ride files in the batch</a:t>
            </a:r>
            <a:endParaRPr lang="en-US" sz="1300" dirty="0"/>
          </a:p>
        </p:txBody>
      </p:sp>
      <p:sp>
        <p:nvSpPr>
          <p:cNvPr id="6" name="Shape 4"/>
          <p:cNvSpPr/>
          <p:nvPr/>
        </p:nvSpPr>
        <p:spPr>
          <a:xfrm>
            <a:off x="3498850" y="1620441"/>
            <a:ext cx="2508250" cy="1291530"/>
          </a:xfrm>
          <a:prstGeom prst="roundRect">
            <a:avLst>
              <a:gd name="adj" fmla="val 9833"/>
            </a:avLst>
          </a:prstGeom>
          <a:solidFill>
            <a:srgbClr val="1F3240"/>
          </a:solidFill>
          <a:ln/>
        </p:spPr>
      </p:sp>
      <p:sp>
        <p:nvSpPr>
          <p:cNvPr id="7" name="Text 5"/>
          <p:cNvSpPr/>
          <p:nvPr/>
        </p:nvSpPr>
        <p:spPr>
          <a:xfrm>
            <a:off x="3727450" y="1849041"/>
            <a:ext cx="2112582"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F3F5F2"/>
                </a:solidFill>
                <a:latin typeface="Source Serif 4" pitchFamily="34" charset="0"/>
                <a:ea typeface="Source Serif 4" pitchFamily="34" charset="-122"/>
                <a:cs typeface="Source Serif 4" pitchFamily="34" charset="-120"/>
              </a:rPr>
              <a:t>4.57M</a:t>
            </a:r>
            <a:endParaRPr lang="en-US" sz="3200" dirty="0"/>
          </a:p>
        </p:txBody>
      </p:sp>
      <p:sp>
        <p:nvSpPr>
          <p:cNvPr id="8" name="Text 6"/>
          <p:cNvSpPr/>
          <p:nvPr/>
        </p:nvSpPr>
        <p:spPr>
          <a:xfrm>
            <a:off x="3727450" y="2468761"/>
            <a:ext cx="211258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7D0CC"/>
                </a:solidFill>
                <a:latin typeface="Inter" pitchFamily="34" charset="0"/>
                <a:ea typeface="Inter" pitchFamily="34" charset="-122"/>
                <a:cs typeface="Inter" pitchFamily="34" charset="-120"/>
              </a:rPr>
              <a:t>raw sensor rows</a:t>
            </a:r>
            <a:endParaRPr lang="en-US" sz="1300" dirty="0"/>
          </a:p>
        </p:txBody>
      </p:sp>
      <p:sp>
        <p:nvSpPr>
          <p:cNvPr id="9" name="Shape 7"/>
          <p:cNvSpPr/>
          <p:nvPr/>
        </p:nvSpPr>
        <p:spPr>
          <a:xfrm>
            <a:off x="6184900" y="1620441"/>
            <a:ext cx="2508250" cy="1291530"/>
          </a:xfrm>
          <a:prstGeom prst="roundRect">
            <a:avLst>
              <a:gd name="adj" fmla="val 9833"/>
            </a:avLst>
          </a:prstGeom>
          <a:solidFill>
            <a:srgbClr val="1F3240"/>
          </a:solidFill>
          <a:ln/>
        </p:spPr>
      </p:sp>
      <p:sp>
        <p:nvSpPr>
          <p:cNvPr id="10" name="Text 8"/>
          <p:cNvSpPr/>
          <p:nvPr/>
        </p:nvSpPr>
        <p:spPr>
          <a:xfrm>
            <a:off x="6413500" y="1849041"/>
            <a:ext cx="2112582"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F3F5F2"/>
                </a:solidFill>
                <a:latin typeface="Source Serif 4" pitchFamily="34" charset="0"/>
                <a:ea typeface="Source Serif 4" pitchFamily="34" charset="-122"/>
                <a:cs typeface="Source Serif 4" pitchFamily="34" charset="-120"/>
              </a:rPr>
              <a:t>381K</a:t>
            </a:r>
            <a:endParaRPr lang="en-US" sz="3200" dirty="0"/>
          </a:p>
        </p:txBody>
      </p:sp>
      <p:sp>
        <p:nvSpPr>
          <p:cNvPr id="11" name="Text 9"/>
          <p:cNvSpPr/>
          <p:nvPr/>
        </p:nvSpPr>
        <p:spPr>
          <a:xfrm>
            <a:off x="6413500" y="2468761"/>
            <a:ext cx="211258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7D0CC"/>
                </a:solidFill>
                <a:latin typeface="Inter" pitchFamily="34" charset="0"/>
                <a:ea typeface="Inter" pitchFamily="34" charset="-122"/>
                <a:cs typeface="Inter" pitchFamily="34" charset="-120"/>
              </a:rPr>
              <a:t>GPS fixes</a:t>
            </a:r>
            <a:endParaRPr lang="en-US" sz="1300" dirty="0"/>
          </a:p>
        </p:txBody>
      </p:sp>
      <p:sp>
        <p:nvSpPr>
          <p:cNvPr id="12" name="Shape 10"/>
          <p:cNvSpPr/>
          <p:nvPr/>
        </p:nvSpPr>
        <p:spPr>
          <a:xfrm>
            <a:off x="8870950" y="1620441"/>
            <a:ext cx="2508250" cy="1291530"/>
          </a:xfrm>
          <a:prstGeom prst="roundRect">
            <a:avLst>
              <a:gd name="adj" fmla="val 9833"/>
            </a:avLst>
          </a:prstGeom>
          <a:solidFill>
            <a:srgbClr val="1F3240"/>
          </a:solidFill>
          <a:ln/>
        </p:spPr>
      </p:sp>
      <p:sp>
        <p:nvSpPr>
          <p:cNvPr id="13" name="Text 11"/>
          <p:cNvSpPr/>
          <p:nvPr/>
        </p:nvSpPr>
        <p:spPr>
          <a:xfrm>
            <a:off x="9099550" y="1849041"/>
            <a:ext cx="2112582"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F3F5F2"/>
                </a:solidFill>
                <a:latin typeface="Source Serif 4" pitchFamily="34" charset="0"/>
                <a:ea typeface="Source Serif 4" pitchFamily="34" charset="-122"/>
                <a:cs typeface="Source Serif 4" pitchFamily="34" charset="-120"/>
              </a:rPr>
              <a:t>408</a:t>
            </a:r>
            <a:endParaRPr lang="en-US" sz="3200" dirty="0"/>
          </a:p>
        </p:txBody>
      </p:sp>
      <p:sp>
        <p:nvSpPr>
          <p:cNvPr id="14" name="Text 12"/>
          <p:cNvSpPr/>
          <p:nvPr/>
        </p:nvSpPr>
        <p:spPr>
          <a:xfrm>
            <a:off x="9099550" y="2468761"/>
            <a:ext cx="211258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C7D0CC"/>
                </a:solidFill>
                <a:latin typeface="Inter" pitchFamily="34" charset="0"/>
                <a:ea typeface="Inter" pitchFamily="34" charset="-122"/>
                <a:cs typeface="Inter" pitchFamily="34" charset="-120"/>
              </a:rPr>
              <a:t>tagged incidents</a:t>
            </a:r>
            <a:endParaRPr lang="en-US" sz="1300" dirty="0"/>
          </a:p>
        </p:txBody>
      </p:sp>
      <p:sp>
        <p:nvSpPr>
          <p:cNvPr id="15" name="Text 13"/>
          <p:cNvSpPr/>
          <p:nvPr/>
        </p:nvSpPr>
        <p:spPr>
          <a:xfrm>
            <a:off x="812800" y="3532722"/>
            <a:ext cx="528472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FD3C6"/>
                </a:solidFill>
                <a:latin typeface="Inter" pitchFamily="34" charset="0"/>
                <a:ea typeface="Inter" pitchFamily="34" charset="-122"/>
                <a:cs typeface="Inter" pitchFamily="34" charset="-120"/>
              </a:rPr>
              <a:t>Key variables</a:t>
            </a:r>
            <a:endParaRPr lang="en-US" sz="1600" dirty="0"/>
          </a:p>
        </p:txBody>
      </p:sp>
      <p:sp>
        <p:nvSpPr>
          <p:cNvPr id="16" name="Text 14"/>
          <p:cNvSpPr/>
          <p:nvPr/>
        </p:nvSpPr>
        <p:spPr>
          <a:xfrm>
            <a:off x="812800" y="3852703"/>
            <a:ext cx="5284724"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3F5F2"/>
                </a:solidFill>
                <a:latin typeface="Inter" pitchFamily="34" charset="0"/>
                <a:ea typeface="Inter" pitchFamily="34" charset="-122"/>
                <a:cs typeface="Inter" pitchFamily="34" charset="-120"/>
              </a:rPr>
              <a:t>lat / lon, timeStamp, GPS accuracy radius (acc), accelerometer X/Y/Z, gyroscope a/b/c</a:t>
            </a:r>
            <a:endParaRPr lang="en-US" sz="1400" dirty="0"/>
          </a:p>
        </p:txBody>
      </p:sp>
      <p:sp>
        <p:nvSpPr>
          <p:cNvPr id="17" name="Text 15"/>
          <p:cNvSpPr/>
          <p:nvPr/>
        </p:nvSpPr>
        <p:spPr>
          <a:xfrm>
            <a:off x="6248400" y="3532722"/>
            <a:ext cx="528472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FD3C6"/>
                </a:solidFill>
                <a:latin typeface="Inter" pitchFamily="34" charset="0"/>
                <a:ea typeface="Inter" pitchFamily="34" charset="-122"/>
                <a:cs typeface="Inter" pitchFamily="34" charset="-120"/>
              </a:rPr>
              <a:t>Ground truth</a:t>
            </a:r>
            <a:endParaRPr lang="en-US" sz="1600" dirty="0"/>
          </a:p>
        </p:txBody>
      </p:sp>
      <p:sp>
        <p:nvSpPr>
          <p:cNvPr id="18" name="Text 16"/>
          <p:cNvSpPr/>
          <p:nvPr/>
        </p:nvSpPr>
        <p:spPr>
          <a:xfrm>
            <a:off x="6248400" y="3852703"/>
            <a:ext cx="5284724"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F3F5F2"/>
                </a:solidFill>
                <a:latin typeface="Inter" pitchFamily="34" charset="0"/>
                <a:ea typeface="Inter" pitchFamily="34" charset="-122"/>
                <a:cs typeface="Inter" pitchFamily="34" charset="-120"/>
              </a:rPr>
              <a:t>Incident type (close pass, tailgating...), who was involved, and a scary flag. Plus bike type and phone position.</a:t>
            </a:r>
            <a:endParaRPr lang="en-US" sz="1400" dirty="0"/>
          </a:p>
        </p:txBody>
      </p:sp>
      <p:sp>
        <p:nvSpPr>
          <p:cNvPr id="19" name="Text 17"/>
          <p:cNvSpPr/>
          <p:nvPr/>
        </p:nvSpPr>
        <p:spPr>
          <a:xfrm>
            <a:off x="738459" y="4998287"/>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7D0CC"/>
                </a:solidFill>
                <a:latin typeface="Inter" pitchFamily="34" charset="0"/>
                <a:ea typeface="Inter" pitchFamily="34" charset="-122"/>
                <a:cs typeface="Inter" pitchFamily="34" charset="-120"/>
              </a:rPr>
              <a:t>Structure: time series per ride (tabular CSV), joined to a road network graph for map matching. Full archive: 28K+ Berlin trips.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3F5F2"/>
        </a:solidFill>
        <a:effectLst/>
      </p:bgPr>
    </p:bg>
    <p:spTree>
      <p:nvGrpSpPr>
        <p:cNvPr id="1" name=""/>
        <p:cNvGrpSpPr/>
        <p:nvPr/>
      </p:nvGrpSpPr>
      <p:grpSpPr>
        <a:xfrm>
          <a:off x="0" y="0"/>
          <a:ext cx="0" cy="0"/>
          <a:chOff x="0" y="0"/>
          <a:chExt cx="0" cy="0"/>
        </a:xfrm>
      </p:grpSpPr>
      <p:sp>
        <p:nvSpPr>
          <p:cNvPr id="3" name="Text 1"/>
          <p:cNvSpPr/>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42E"/>
                </a:solidFill>
                <a:latin typeface="Source Serif 4" pitchFamily="34" charset="0"/>
                <a:ea typeface="Source Serif 4" pitchFamily="34" charset="-122"/>
                <a:cs typeface="Source Serif 4" pitchFamily="34" charset="-120"/>
              </a:rPr>
              <a:t>Data cleaning</a:t>
            </a:r>
            <a:endParaRPr lang="en-US" sz="3600" dirty="0"/>
          </a:p>
        </p:txBody>
      </p:sp>
      <p:sp>
        <p:nvSpPr>
          <p:cNvPr id="4" name="Shape 2"/>
          <p:cNvSpPr/>
          <p:nvPr/>
        </p:nvSpPr>
        <p:spPr>
          <a:xfrm>
            <a:off x="812800" y="1568450"/>
            <a:ext cx="1991320" cy="1974850"/>
          </a:xfrm>
          <a:prstGeom prst="roundRect">
            <a:avLst>
              <a:gd name="adj" fmla="val 6431"/>
            </a:avLst>
          </a:prstGeom>
          <a:solidFill>
            <a:srgbClr val="FFFFFF"/>
          </a:solidFill>
          <a:ln/>
          <a:effectLst>
            <a:outerShdw blurRad="152400" dist="50800" dir="5400000" algn="bl" rotWithShape="0">
              <a:srgbClr val="16242E">
                <a:alpha val="8000"/>
              </a:srgbClr>
            </a:outerShdw>
          </a:effectLst>
        </p:spPr>
      </p:sp>
      <p:sp>
        <p:nvSpPr>
          <p:cNvPr id="5" name="Text 3"/>
          <p:cNvSpPr/>
          <p:nvPr/>
        </p:nvSpPr>
        <p:spPr>
          <a:xfrm>
            <a:off x="1041400" y="1797050"/>
            <a:ext cx="158492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8A7E"/>
                </a:solidFill>
                <a:latin typeface="Source Serif 4" pitchFamily="34" charset="0"/>
                <a:ea typeface="Source Serif 4" pitchFamily="34" charset="-122"/>
                <a:cs typeface="Source Serif 4" pitchFamily="34" charset="-120"/>
              </a:rPr>
              <a:t>1</a:t>
            </a:r>
            <a:endParaRPr lang="en-US" sz="2200" dirty="0"/>
          </a:p>
        </p:txBody>
      </p:sp>
      <p:sp>
        <p:nvSpPr>
          <p:cNvPr id="6" name="Text 4"/>
          <p:cNvSpPr/>
          <p:nvPr/>
        </p:nvSpPr>
        <p:spPr>
          <a:xfrm>
            <a:off x="1041400" y="2289770"/>
            <a:ext cx="15849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Split the file</a:t>
            </a:r>
            <a:endParaRPr lang="en-US" sz="1500" dirty="0"/>
          </a:p>
        </p:txBody>
      </p:sp>
      <p:sp>
        <p:nvSpPr>
          <p:cNvPr id="7" name="Text 5"/>
          <p:cNvSpPr/>
          <p:nvPr/>
        </p:nvSpPr>
        <p:spPr>
          <a:xfrm>
            <a:off x="1041400" y="2619970"/>
            <a:ext cx="158492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Separate incidents from the ride series.</a:t>
            </a:r>
            <a:endParaRPr lang="en-US" sz="1300" dirty="0"/>
          </a:p>
        </p:txBody>
      </p:sp>
      <p:sp>
        <p:nvSpPr>
          <p:cNvPr id="8" name="Shape 6"/>
          <p:cNvSpPr/>
          <p:nvPr/>
        </p:nvSpPr>
        <p:spPr>
          <a:xfrm>
            <a:off x="2956520" y="1568450"/>
            <a:ext cx="1991420" cy="1974850"/>
          </a:xfrm>
          <a:prstGeom prst="roundRect">
            <a:avLst>
              <a:gd name="adj" fmla="val 6431"/>
            </a:avLst>
          </a:prstGeom>
          <a:solidFill>
            <a:srgbClr val="FFFFFF"/>
          </a:solidFill>
          <a:ln/>
          <a:effectLst>
            <a:outerShdw blurRad="152400" dist="50800" dir="5400000" algn="bl" rotWithShape="0">
              <a:srgbClr val="16242E">
                <a:alpha val="8000"/>
              </a:srgbClr>
            </a:outerShdw>
          </a:effectLst>
        </p:spPr>
      </p:sp>
      <p:sp>
        <p:nvSpPr>
          <p:cNvPr id="9" name="Text 7"/>
          <p:cNvSpPr/>
          <p:nvPr/>
        </p:nvSpPr>
        <p:spPr>
          <a:xfrm>
            <a:off x="3185120" y="1797050"/>
            <a:ext cx="158502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8A7E"/>
                </a:solidFill>
                <a:latin typeface="Source Serif 4" pitchFamily="34" charset="0"/>
                <a:ea typeface="Source Serif 4" pitchFamily="34" charset="-122"/>
                <a:cs typeface="Source Serif 4" pitchFamily="34" charset="-120"/>
              </a:rPr>
              <a:t>2</a:t>
            </a:r>
            <a:endParaRPr lang="en-US" sz="2200" dirty="0"/>
          </a:p>
        </p:txBody>
      </p:sp>
      <p:sp>
        <p:nvSpPr>
          <p:cNvPr id="10" name="Text 8"/>
          <p:cNvSpPr/>
          <p:nvPr/>
        </p:nvSpPr>
        <p:spPr>
          <a:xfrm>
            <a:off x="3185120" y="2289770"/>
            <a:ext cx="1585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Drop bad fixes</a:t>
            </a:r>
            <a:endParaRPr lang="en-US" sz="1500" dirty="0"/>
          </a:p>
        </p:txBody>
      </p:sp>
      <p:sp>
        <p:nvSpPr>
          <p:cNvPr id="11" name="Text 9"/>
          <p:cNvSpPr/>
          <p:nvPr/>
        </p:nvSpPr>
        <p:spPr>
          <a:xfrm>
            <a:off x="3185120" y="2619970"/>
            <a:ext cx="158502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Remove 4,315 fixes with error over 20 m.</a:t>
            </a:r>
            <a:endParaRPr lang="en-US" sz="1300" dirty="0"/>
          </a:p>
        </p:txBody>
      </p:sp>
      <p:sp>
        <p:nvSpPr>
          <p:cNvPr id="12" name="Shape 10"/>
          <p:cNvSpPr/>
          <p:nvPr/>
        </p:nvSpPr>
        <p:spPr>
          <a:xfrm>
            <a:off x="5100340" y="1568450"/>
            <a:ext cx="1991320" cy="1974850"/>
          </a:xfrm>
          <a:prstGeom prst="roundRect">
            <a:avLst>
              <a:gd name="adj" fmla="val 6431"/>
            </a:avLst>
          </a:prstGeom>
          <a:solidFill>
            <a:srgbClr val="FFFFFF"/>
          </a:solidFill>
          <a:ln/>
          <a:effectLst>
            <a:outerShdw blurRad="152400" dist="50800" dir="5400000" algn="bl" rotWithShape="0">
              <a:srgbClr val="16242E">
                <a:alpha val="8000"/>
              </a:srgbClr>
            </a:outerShdw>
          </a:effectLst>
        </p:spPr>
      </p:sp>
      <p:sp>
        <p:nvSpPr>
          <p:cNvPr id="13" name="Text 11"/>
          <p:cNvSpPr/>
          <p:nvPr/>
        </p:nvSpPr>
        <p:spPr>
          <a:xfrm>
            <a:off x="5328940" y="1797050"/>
            <a:ext cx="158492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8A7E"/>
                </a:solidFill>
                <a:latin typeface="Source Serif 4" pitchFamily="34" charset="0"/>
                <a:ea typeface="Source Serif 4" pitchFamily="34" charset="-122"/>
                <a:cs typeface="Source Serif 4" pitchFamily="34" charset="-120"/>
              </a:rPr>
              <a:t>3</a:t>
            </a:r>
            <a:endParaRPr lang="en-US" sz="2200" dirty="0"/>
          </a:p>
        </p:txBody>
      </p:sp>
      <p:sp>
        <p:nvSpPr>
          <p:cNvPr id="14" name="Text 12"/>
          <p:cNvSpPr/>
          <p:nvPr/>
        </p:nvSpPr>
        <p:spPr>
          <a:xfrm>
            <a:off x="5328940" y="2289770"/>
            <a:ext cx="15849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Remove spikes</a:t>
            </a:r>
            <a:endParaRPr lang="en-US" sz="1500" dirty="0"/>
          </a:p>
        </p:txBody>
      </p:sp>
      <p:sp>
        <p:nvSpPr>
          <p:cNvPr id="15" name="Text 13"/>
          <p:cNvSpPr/>
          <p:nvPr/>
        </p:nvSpPr>
        <p:spPr>
          <a:xfrm>
            <a:off x="5328940" y="2619970"/>
            <a:ext cx="158492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Drop 519 jumps over 54 km/h.</a:t>
            </a:r>
            <a:endParaRPr lang="en-US" sz="1300" dirty="0"/>
          </a:p>
        </p:txBody>
      </p:sp>
      <p:sp>
        <p:nvSpPr>
          <p:cNvPr id="16" name="Shape 14"/>
          <p:cNvSpPr/>
          <p:nvPr/>
        </p:nvSpPr>
        <p:spPr>
          <a:xfrm>
            <a:off x="7244060" y="1568450"/>
            <a:ext cx="1991420" cy="1974850"/>
          </a:xfrm>
          <a:prstGeom prst="roundRect">
            <a:avLst>
              <a:gd name="adj" fmla="val 6431"/>
            </a:avLst>
          </a:prstGeom>
          <a:solidFill>
            <a:srgbClr val="FFFFFF"/>
          </a:solidFill>
          <a:ln/>
          <a:effectLst>
            <a:outerShdw blurRad="152400" dist="50800" dir="5400000" algn="bl" rotWithShape="0">
              <a:srgbClr val="16242E">
                <a:alpha val="8000"/>
              </a:srgbClr>
            </a:outerShdw>
          </a:effectLst>
        </p:spPr>
      </p:sp>
      <p:sp>
        <p:nvSpPr>
          <p:cNvPr id="17" name="Text 15"/>
          <p:cNvSpPr/>
          <p:nvPr/>
        </p:nvSpPr>
        <p:spPr>
          <a:xfrm>
            <a:off x="7472660" y="1797050"/>
            <a:ext cx="158502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B8A7E"/>
                </a:solidFill>
                <a:latin typeface="Source Serif 4" pitchFamily="34" charset="0"/>
                <a:ea typeface="Source Serif 4" pitchFamily="34" charset="-122"/>
                <a:cs typeface="Source Serif 4" pitchFamily="34" charset="-120"/>
              </a:rPr>
              <a:t>4</a:t>
            </a:r>
            <a:endParaRPr lang="en-US" sz="2200" dirty="0"/>
          </a:p>
        </p:txBody>
      </p:sp>
      <p:sp>
        <p:nvSpPr>
          <p:cNvPr id="18" name="Text 16"/>
          <p:cNvSpPr/>
          <p:nvPr/>
        </p:nvSpPr>
        <p:spPr>
          <a:xfrm>
            <a:off x="7472660" y="2289770"/>
            <a:ext cx="15850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Drop weak rides</a:t>
            </a:r>
            <a:endParaRPr lang="en-US" sz="1500" dirty="0"/>
          </a:p>
        </p:txBody>
      </p:sp>
      <p:sp>
        <p:nvSpPr>
          <p:cNvPr id="19" name="Text 17"/>
          <p:cNvSpPr/>
          <p:nvPr/>
        </p:nvSpPr>
        <p:spPr>
          <a:xfrm>
            <a:off x="7472660" y="2619970"/>
            <a:ext cx="158502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Drop 21 unreadable or tiny rides.</a:t>
            </a:r>
            <a:endParaRPr lang="en-US" sz="1300" dirty="0"/>
          </a:p>
        </p:txBody>
      </p:sp>
      <p:sp>
        <p:nvSpPr>
          <p:cNvPr id="20" name="Shape 18"/>
          <p:cNvSpPr/>
          <p:nvPr/>
        </p:nvSpPr>
        <p:spPr>
          <a:xfrm>
            <a:off x="9387880" y="1568450"/>
            <a:ext cx="1991320" cy="1974850"/>
          </a:xfrm>
          <a:prstGeom prst="roundRect">
            <a:avLst>
              <a:gd name="adj" fmla="val 6431"/>
            </a:avLst>
          </a:prstGeom>
          <a:solidFill>
            <a:srgbClr val="FFFFFF"/>
          </a:solidFill>
          <a:ln/>
          <a:effectLst>
            <a:outerShdw blurRad="152400" dist="50800" dir="5400000" algn="bl" rotWithShape="0">
              <a:srgbClr val="16242E">
                <a:alpha val="8000"/>
              </a:srgbClr>
            </a:outerShdw>
          </a:effectLst>
        </p:spPr>
      </p:sp>
      <p:sp>
        <p:nvSpPr>
          <p:cNvPr id="21" name="Text 19"/>
          <p:cNvSpPr/>
          <p:nvPr/>
        </p:nvSpPr>
        <p:spPr>
          <a:xfrm>
            <a:off x="9616480" y="1797050"/>
            <a:ext cx="158492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D9472F"/>
                </a:solidFill>
                <a:latin typeface="Source Serif 4" pitchFamily="34" charset="0"/>
                <a:ea typeface="Source Serif 4" pitchFamily="34" charset="-122"/>
                <a:cs typeface="Source Serif 4" pitchFamily="34" charset="-120"/>
              </a:rPr>
              <a:t>5</a:t>
            </a:r>
            <a:endParaRPr lang="en-US" sz="2200" dirty="0"/>
          </a:p>
        </p:txBody>
      </p:sp>
      <p:sp>
        <p:nvSpPr>
          <p:cNvPr id="22" name="Text 20"/>
          <p:cNvSpPr/>
          <p:nvPr/>
        </p:nvSpPr>
        <p:spPr>
          <a:xfrm>
            <a:off x="9616480" y="2289770"/>
            <a:ext cx="158492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6242E"/>
                </a:solidFill>
                <a:latin typeface="Inter" pitchFamily="34" charset="0"/>
                <a:ea typeface="Inter" pitchFamily="34" charset="-122"/>
                <a:cs typeface="Inter" pitchFamily="34" charset="-120"/>
              </a:rPr>
              <a:t>Build features</a:t>
            </a:r>
            <a:endParaRPr lang="en-US" sz="1500" dirty="0"/>
          </a:p>
        </p:txBody>
      </p:sp>
      <p:sp>
        <p:nvSpPr>
          <p:cNvPr id="23" name="Text 21"/>
          <p:cNvSpPr/>
          <p:nvPr/>
        </p:nvSpPr>
        <p:spPr>
          <a:xfrm>
            <a:off x="9616480" y="2619970"/>
            <a:ext cx="158492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Speed, stops, turns, braking per ride.</a:t>
            </a:r>
            <a:endParaRPr lang="en-US" sz="1300" dirty="0"/>
          </a:p>
        </p:txBody>
      </p:sp>
      <p:sp>
        <p:nvSpPr>
          <p:cNvPr id="24" name="Text 22"/>
          <p:cNvSpPr/>
          <p:nvPr/>
        </p:nvSpPr>
        <p:spPr>
          <a:xfrm>
            <a:off x="812800" y="4267200"/>
            <a:ext cx="795324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42E"/>
                </a:solidFill>
                <a:latin typeface="Inter" pitchFamily="34" charset="0"/>
                <a:ea typeface="Inter" pitchFamily="34" charset="-122"/>
                <a:cs typeface="Inter" pitchFamily="34" charset="-120"/>
              </a:rPr>
              <a:t>Result:</a:t>
            </a:r>
            <a:r>
              <a:rPr lang="en-US" sz="1500" dirty="0">
                <a:solidFill>
                  <a:srgbClr val="16242E"/>
                </a:solidFill>
                <a:latin typeface="Inter" pitchFamily="34" charset="0"/>
                <a:ea typeface="Inter" pitchFamily="34" charset="-122"/>
                <a:cs typeface="Inter" pitchFamily="34" charset="-120"/>
              </a:rPr>
              <a:t> 856 clean rides, 375K GPS points, 4,936 km of riding.</a:t>
            </a:r>
            <a:endParaRPr lang="en-US" sz="1500" dirty="0"/>
          </a:p>
        </p:txBody>
      </p:sp>
      <p:sp>
        <p:nvSpPr>
          <p:cNvPr id="25" name="Text 23"/>
          <p:cNvSpPr/>
          <p:nvPr/>
        </p:nvSpPr>
        <p:spPr>
          <a:xfrm>
            <a:off x="812800" y="4603303"/>
            <a:ext cx="5420403" cy="51975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D6B73"/>
                </a:solidFill>
                <a:latin typeface="Inter" pitchFamily="34" charset="0"/>
                <a:ea typeface="Inter" pitchFamily="34" charset="-122"/>
                <a:cs typeface="Inter" pitchFamily="34" charset="-120"/>
              </a:rPr>
              <a:t>Every fix comes with an error radius. Phones often land 5 to 20 m from the true spot, so we filter first and map-match next.</a:t>
            </a:r>
            <a:endParaRPr lang="en-US" sz="1300" dirty="0"/>
          </a:p>
        </p:txBody>
      </p:sp>
      <p:pic>
        <p:nvPicPr>
          <p:cNvPr id="27" name="Picture 26">
            <a:extLst>
              <a:ext uri="{FF2B5EF4-FFF2-40B4-BE49-F238E27FC236}">
                <a16:creationId xmlns:a16="http://schemas.microsoft.com/office/drawing/2014/main" id="{455E432D-618D-1FEB-0808-9D9909AADB9A}"/>
              </a:ext>
            </a:extLst>
          </p:cNvPr>
          <p:cNvPicPr>
            <a:picLocks noChangeAspect="1"/>
          </p:cNvPicPr>
          <p:nvPr/>
        </p:nvPicPr>
        <p:blipFill>
          <a:blip r:embed="rId3"/>
          <a:stretch>
            <a:fillRect/>
          </a:stretch>
        </p:blipFill>
        <p:spPr>
          <a:xfrm>
            <a:off x="7474709" y="3937446"/>
            <a:ext cx="3708848" cy="254626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3F5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42E"/>
                </a:solidFill>
                <a:latin typeface="Source Serif 4" pitchFamily="34" charset="0"/>
                <a:ea typeface="Source Serif 4" pitchFamily="34" charset="-122"/>
                <a:cs typeface="Source Serif 4" pitchFamily="34" charset="-120"/>
              </a:rPr>
              <a:t>Summary statistics (856 rides)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2844336809"/>
              </p:ext>
            </p:extLst>
          </p:nvPr>
        </p:nvGraphicFramePr>
        <p:xfrm>
          <a:off x="812800" y="1620441"/>
          <a:ext cx="10754430" cy="4156362"/>
        </p:xfrm>
        <a:graphic>
          <a:graphicData uri="http://schemas.openxmlformats.org/drawingml/2006/table">
            <a:tbl>
              <a:tblPr/>
              <a:tblGrid>
                <a:gridCol w="4301772">
                  <a:extLst>
                    <a:ext uri="{9D8B030D-6E8A-4147-A177-3AD203B41FA5}">
                      <a16:colId xmlns:a16="http://schemas.microsoft.com/office/drawing/2014/main" val="20000"/>
                    </a:ext>
                  </a:extLst>
                </a:gridCol>
                <a:gridCol w="2150886">
                  <a:extLst>
                    <a:ext uri="{9D8B030D-6E8A-4147-A177-3AD203B41FA5}">
                      <a16:colId xmlns:a16="http://schemas.microsoft.com/office/drawing/2014/main" val="20001"/>
                    </a:ext>
                  </a:extLst>
                </a:gridCol>
                <a:gridCol w="2150886">
                  <a:extLst>
                    <a:ext uri="{9D8B030D-6E8A-4147-A177-3AD203B41FA5}">
                      <a16:colId xmlns:a16="http://schemas.microsoft.com/office/drawing/2014/main" val="20002"/>
                    </a:ext>
                  </a:extLst>
                </a:gridCol>
                <a:gridCol w="2150886">
                  <a:extLst>
                    <a:ext uri="{9D8B030D-6E8A-4147-A177-3AD203B41FA5}">
                      <a16:colId xmlns:a16="http://schemas.microsoft.com/office/drawing/2014/main" val="20003"/>
                    </a:ext>
                  </a:extLst>
                </a:gridCol>
              </a:tblGrid>
              <a:tr h="461818">
                <a:tc>
                  <a:txBody>
                    <a:bodyPr/>
                    <a:lstStyle/>
                    <a:p>
                      <a:pPr marL="0" indent="0">
                        <a:lnSpc>
                          <a:spcPts val="1960"/>
                        </a:lnSpc>
                        <a:buNone/>
                      </a:pPr>
                      <a:r>
                        <a:rPr lang="en-US" sz="1400" b="1" dirty="0">
                          <a:solidFill>
                            <a:srgbClr val="F3F5F2"/>
                          </a:solidFill>
                          <a:latin typeface="Inter" pitchFamily="34" charset="0"/>
                          <a:ea typeface="Inter" pitchFamily="34" charset="-122"/>
                          <a:cs typeface="Inter" pitchFamily="34" charset="-120"/>
                        </a:rPr>
                        <a:t>Feature</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16242E"/>
                    </a:solidFill>
                  </a:tcPr>
                </a:tc>
                <a:tc>
                  <a:txBody>
                    <a:bodyPr/>
                    <a:lstStyle/>
                    <a:p>
                      <a:pPr marL="0" indent="0" algn="r">
                        <a:lnSpc>
                          <a:spcPts val="1960"/>
                        </a:lnSpc>
                        <a:buNone/>
                      </a:pPr>
                      <a:r>
                        <a:rPr lang="en-US" sz="1400" b="1" dirty="0">
                          <a:solidFill>
                            <a:srgbClr val="F3F5F2"/>
                          </a:solidFill>
                          <a:latin typeface="Inter" pitchFamily="34" charset="0"/>
                          <a:ea typeface="Inter" pitchFamily="34" charset="-122"/>
                          <a:cs typeface="Inter" pitchFamily="34" charset="-120"/>
                        </a:rPr>
                        <a:t>Mean</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16242E"/>
                    </a:solidFill>
                  </a:tcPr>
                </a:tc>
                <a:tc>
                  <a:txBody>
                    <a:bodyPr/>
                    <a:lstStyle/>
                    <a:p>
                      <a:pPr marL="0" indent="0" algn="r">
                        <a:lnSpc>
                          <a:spcPts val="1960"/>
                        </a:lnSpc>
                        <a:buNone/>
                      </a:pPr>
                      <a:r>
                        <a:rPr lang="en-US" sz="1400" b="1" dirty="0">
                          <a:solidFill>
                            <a:srgbClr val="F3F5F2"/>
                          </a:solidFill>
                          <a:latin typeface="Inter" pitchFamily="34" charset="0"/>
                          <a:ea typeface="Inter" pitchFamily="34" charset="-122"/>
                          <a:cs typeface="Inter" pitchFamily="34" charset="-120"/>
                        </a:rPr>
                        <a:t>Median</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16242E"/>
                    </a:solidFill>
                  </a:tcPr>
                </a:tc>
                <a:tc>
                  <a:txBody>
                    <a:bodyPr/>
                    <a:lstStyle/>
                    <a:p>
                      <a:pPr marL="0" indent="0" algn="r">
                        <a:lnSpc>
                          <a:spcPts val="1960"/>
                        </a:lnSpc>
                        <a:buNone/>
                      </a:pPr>
                      <a:r>
                        <a:rPr lang="en-US" sz="1400" b="1" dirty="0">
                          <a:solidFill>
                            <a:srgbClr val="F3F5F2"/>
                          </a:solidFill>
                          <a:latin typeface="Inter" pitchFamily="34" charset="0"/>
                          <a:ea typeface="Inter" pitchFamily="34" charset="-122"/>
                          <a:cs typeface="Inter" pitchFamily="34" charset="-120"/>
                        </a:rPr>
                        <a:t>Std dev</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16242E"/>
                    </a:solidFill>
                  </a:tcPr>
                </a:tc>
                <a:extLst>
                  <a:ext uri="{0D108BD9-81ED-4DB2-BD59-A6C34878D82A}">
                    <a16:rowId xmlns:a16="http://schemas.microsoft.com/office/drawing/2014/main" val="10000"/>
                  </a:ext>
                </a:extLst>
              </a:tr>
              <a:tr h="461818">
                <a:tc>
                  <a:txBody>
                    <a:bodyPr/>
                    <a:lstStyle/>
                    <a:p>
                      <a:pPr marL="0" indent="0">
                        <a:lnSpc>
                          <a:spcPts val="1960"/>
                        </a:lnSpc>
                        <a:buNone/>
                      </a:pPr>
                      <a:r>
                        <a:rPr lang="en-US" sz="1400" dirty="0">
                          <a:solidFill>
                            <a:srgbClr val="16242E"/>
                          </a:solidFill>
                          <a:latin typeface="Inter" pitchFamily="34" charset="0"/>
                          <a:ea typeface="Inter" pitchFamily="34" charset="-122"/>
                          <a:cs typeface="Inter" pitchFamily="34" charset="-120"/>
                        </a:rPr>
                        <a:t>Distance (km)</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5.77</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4.10</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5.44</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extLst>
                  <a:ext uri="{0D108BD9-81ED-4DB2-BD59-A6C34878D82A}">
                    <a16:rowId xmlns:a16="http://schemas.microsoft.com/office/drawing/2014/main" val="10001"/>
                  </a:ext>
                </a:extLst>
              </a:tr>
              <a:tr h="461818">
                <a:tc>
                  <a:txBody>
                    <a:bodyPr/>
                    <a:lstStyle/>
                    <a:p>
                      <a:pPr marL="0" indent="0">
                        <a:lnSpc>
                          <a:spcPts val="1960"/>
                        </a:lnSpc>
                        <a:buNone/>
                      </a:pPr>
                      <a:r>
                        <a:rPr lang="en-US" sz="1400" dirty="0">
                          <a:solidFill>
                            <a:srgbClr val="16242E"/>
                          </a:solidFill>
                          <a:latin typeface="Inter" pitchFamily="34" charset="0"/>
                          <a:ea typeface="Inter" pitchFamily="34" charset="-122"/>
                          <a:cs typeface="Inter" pitchFamily="34" charset="-120"/>
                        </a:rPr>
                        <a:t>Duration (min)</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22.3</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15.5</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26.2</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extLst>
                  <a:ext uri="{0D108BD9-81ED-4DB2-BD59-A6C34878D82A}">
                    <a16:rowId xmlns:a16="http://schemas.microsoft.com/office/drawing/2014/main" val="10002"/>
                  </a:ext>
                </a:extLst>
              </a:tr>
              <a:tr h="461818">
                <a:tc>
                  <a:txBody>
                    <a:bodyPr/>
                    <a:lstStyle/>
                    <a:p>
                      <a:pPr marL="0" indent="0">
                        <a:lnSpc>
                          <a:spcPts val="1960"/>
                        </a:lnSpc>
                        <a:buNone/>
                      </a:pPr>
                      <a:r>
                        <a:rPr lang="en-US" sz="1400" dirty="0">
                          <a:solidFill>
                            <a:srgbClr val="16242E"/>
                          </a:solidFill>
                          <a:latin typeface="Inter" pitchFamily="34" charset="0"/>
                          <a:ea typeface="Inter" pitchFamily="34" charset="-122"/>
                          <a:cs typeface="Inter" pitchFamily="34" charset="-120"/>
                        </a:rPr>
                        <a:t>Moving speed (km/h)</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18.5</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18.5</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extLst>
                  <a:ext uri="{0D108BD9-81ED-4DB2-BD59-A6C34878D82A}">
                    <a16:rowId xmlns:a16="http://schemas.microsoft.com/office/drawing/2014/main" val="10003"/>
                  </a:ext>
                </a:extLst>
              </a:tr>
              <a:tr h="461818">
                <a:tc>
                  <a:txBody>
                    <a:bodyPr/>
                    <a:lstStyle/>
                    <a:p>
                      <a:pPr marL="0" indent="0">
                        <a:lnSpc>
                          <a:spcPts val="1960"/>
                        </a:lnSpc>
                        <a:buNone/>
                      </a:pPr>
                      <a:r>
                        <a:rPr lang="en-US" sz="1400" dirty="0">
                          <a:solidFill>
                            <a:srgbClr val="16242E"/>
                          </a:solidFill>
                          <a:latin typeface="Inter" pitchFamily="34" charset="0"/>
                          <a:ea typeface="Inter" pitchFamily="34" charset="-122"/>
                          <a:cs typeface="Inter" pitchFamily="34" charset="-120"/>
                        </a:rPr>
                        <a:t>95th pct speed (km/h)</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26.5</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26.3</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4.7</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extLst>
                  <a:ext uri="{0D108BD9-81ED-4DB2-BD59-A6C34878D82A}">
                    <a16:rowId xmlns:a16="http://schemas.microsoft.com/office/drawing/2014/main" val="10004"/>
                  </a:ext>
                </a:extLst>
              </a:tr>
              <a:tr h="461818">
                <a:tc>
                  <a:txBody>
                    <a:bodyPr/>
                    <a:lstStyle/>
                    <a:p>
                      <a:pPr marL="0" indent="0">
                        <a:lnSpc>
                          <a:spcPts val="1960"/>
                        </a:lnSpc>
                        <a:buNone/>
                      </a:pPr>
                      <a:r>
                        <a:rPr lang="en-US" sz="1400" dirty="0">
                          <a:solidFill>
                            <a:srgbClr val="16242E"/>
                          </a:solidFill>
                          <a:latin typeface="Inter" pitchFamily="34" charset="0"/>
                          <a:ea typeface="Inter" pitchFamily="34" charset="-122"/>
                          <a:cs typeface="Inter" pitchFamily="34" charset="-120"/>
                        </a:rPr>
                        <a:t>Stops per km</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1.51</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1.18</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1.74</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extLst>
                  <a:ext uri="{0D108BD9-81ED-4DB2-BD59-A6C34878D82A}">
                    <a16:rowId xmlns:a16="http://schemas.microsoft.com/office/drawing/2014/main" val="10005"/>
                  </a:ext>
                </a:extLst>
              </a:tr>
              <a:tr h="461818">
                <a:tc>
                  <a:txBody>
                    <a:bodyPr/>
                    <a:lstStyle/>
                    <a:p>
                      <a:pPr marL="0" indent="0">
                        <a:lnSpc>
                          <a:spcPts val="1960"/>
                        </a:lnSpc>
                        <a:buNone/>
                      </a:pPr>
                      <a:r>
                        <a:rPr lang="en-US" sz="1400" dirty="0">
                          <a:solidFill>
                            <a:srgbClr val="16242E"/>
                          </a:solidFill>
                          <a:latin typeface="Inter" pitchFamily="34" charset="0"/>
                          <a:ea typeface="Inter" pitchFamily="34" charset="-122"/>
                          <a:cs typeface="Inter" pitchFamily="34" charset="-120"/>
                        </a:rPr>
                        <a:t>Share of time stopped</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14%</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extLst>
                  <a:ext uri="{0D108BD9-81ED-4DB2-BD59-A6C34878D82A}">
                    <a16:rowId xmlns:a16="http://schemas.microsoft.com/office/drawing/2014/main" val="10006"/>
                  </a:ext>
                </a:extLst>
              </a:tr>
              <a:tr h="461818">
                <a:tc>
                  <a:txBody>
                    <a:bodyPr/>
                    <a:lstStyle/>
                    <a:p>
                      <a:pPr marL="0" indent="0">
                        <a:lnSpc>
                          <a:spcPts val="1960"/>
                        </a:lnSpc>
                        <a:buNone/>
                      </a:pPr>
                      <a:r>
                        <a:rPr lang="en-US" sz="1400" dirty="0">
                          <a:solidFill>
                            <a:srgbClr val="16242E"/>
                          </a:solidFill>
                          <a:latin typeface="Inter" pitchFamily="34" charset="0"/>
                          <a:ea typeface="Inter" pitchFamily="34" charset="-122"/>
                          <a:cs typeface="Inter" pitchFamily="34" charset="-120"/>
                        </a:rPr>
                        <a:t>Turns per km</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2.16</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1.68</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2.01</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tcPr>
                </a:tc>
                <a:extLst>
                  <a:ext uri="{0D108BD9-81ED-4DB2-BD59-A6C34878D82A}">
                    <a16:rowId xmlns:a16="http://schemas.microsoft.com/office/drawing/2014/main" val="10007"/>
                  </a:ext>
                </a:extLst>
              </a:tr>
              <a:tr h="461818">
                <a:tc>
                  <a:txBody>
                    <a:bodyPr/>
                    <a:lstStyle/>
                    <a:p>
                      <a:pPr marL="0" indent="0">
                        <a:lnSpc>
                          <a:spcPts val="1960"/>
                        </a:lnSpc>
                        <a:buNone/>
                      </a:pPr>
                      <a:r>
                        <a:rPr lang="en-US" sz="1400" dirty="0">
                          <a:solidFill>
                            <a:srgbClr val="16242E"/>
                          </a:solidFill>
                          <a:latin typeface="Inter" pitchFamily="34" charset="0"/>
                          <a:ea typeface="Inter" pitchFamily="34" charset="-122"/>
                          <a:cs typeface="Inter" pitchFamily="34" charset="-120"/>
                        </a:rPr>
                        <a:t>GPS error radius (m)</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6.5</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5.4</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tc>
                  <a:txBody>
                    <a:bodyPr/>
                    <a:lstStyle/>
                    <a:p>
                      <a:pPr marL="0" indent="0" algn="r">
                        <a:lnSpc>
                          <a:spcPts val="1960"/>
                        </a:lnSpc>
                        <a:buNone/>
                      </a:pPr>
                      <a:r>
                        <a:rPr lang="en-US" sz="1400" dirty="0">
                          <a:solidFill>
                            <a:srgbClr val="16242E"/>
                          </a:solidFill>
                          <a:latin typeface="Inter" pitchFamily="34" charset="0"/>
                          <a:ea typeface="Inter" pitchFamily="34" charset="-122"/>
                          <a:cs typeface="Inter" pitchFamily="34" charset="-120"/>
                        </a:rPr>
                        <a:t>3.8</a:t>
                      </a:r>
                      <a:endParaRPr lang="en-US" sz="1400" dirty="0">
                        <a:latin typeface="Inter" charset="0"/>
                        <a:ea typeface="Inter" charset="0"/>
                        <a:cs typeface="Inter" charset="0"/>
                      </a:endParaRPr>
                    </a:p>
                  </a:txBody>
                  <a:tcPr marL="62230" marR="62230" marT="62230" marB="62230">
                    <a:lnL w="12700" cap="flat" cmpd="sng" algn="ctr">
                      <a:solidFill>
                        <a:srgbClr val="C2C7C7"/>
                      </a:solidFill>
                      <a:prstDash val="solid"/>
                      <a:round/>
                      <a:headEnd type="none" w="med" len="med"/>
                      <a:tailEnd type="none" w="med" len="med"/>
                    </a:lnL>
                    <a:lnR w="12700" cap="flat" cmpd="sng" algn="ctr">
                      <a:solidFill>
                        <a:srgbClr val="C2C7C7"/>
                      </a:solidFill>
                      <a:prstDash val="solid"/>
                      <a:round/>
                      <a:headEnd type="none" w="med" len="med"/>
                      <a:tailEnd type="none" w="med" len="med"/>
                    </a:lnR>
                    <a:lnT w="12700" cap="flat" cmpd="sng" algn="ctr">
                      <a:solidFill>
                        <a:srgbClr val="C2C7C7"/>
                      </a:solidFill>
                      <a:prstDash val="solid"/>
                      <a:round/>
                      <a:headEnd type="none" w="med" len="med"/>
                      <a:tailEnd type="none" w="med" len="med"/>
                    </a:lnT>
                    <a:lnB w="12700" cap="flat" cmpd="sng" algn="ctr">
                      <a:solidFill>
                        <a:srgbClr val="C2C7C7"/>
                      </a:solidFill>
                      <a:prstDash val="solid"/>
                      <a:round/>
                      <a:headEnd type="none" w="med" len="med"/>
                      <a:tailEnd type="none" w="med" len="med"/>
                    </a:lnB>
                    <a:solidFill>
                      <a:srgbClr val="F7F9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16242E"/>
        </a:solidFill>
        <a:effectLst/>
      </p:bgPr>
    </p:bg>
    <p:spTree>
      <p:nvGrpSpPr>
        <p:cNvPr id="1" name=""/>
        <p:cNvGrpSpPr/>
        <p:nvPr/>
      </p:nvGrpSpPr>
      <p:grpSpPr>
        <a:xfrm>
          <a:off x="0" y="0"/>
          <a:ext cx="0" cy="0"/>
          <a:chOff x="0" y="0"/>
          <a:chExt cx="0" cy="0"/>
        </a:xfrm>
      </p:grpSpPr>
      <p:pic>
        <p:nvPicPr>
          <p:cNvPr id="2" name="Image 0" descr="Map of 856 cleaned rides across Berlin, brighter lines are faster, red dots are incidents"/>
          <p:cNvPicPr>
            <a:picLocks noChangeAspect="1"/>
          </p:cNvPicPr>
          <p:nvPr/>
        </p:nvPicPr>
        <p:blipFill>
          <a:blip r:embed="rId3"/>
          <a:srcRect l="10612" r="10612"/>
          <a:stretch/>
        </p:blipFill>
        <p:spPr>
          <a:xfrm>
            <a:off x="5939760" y="0"/>
            <a:ext cx="6248896" cy="5949355"/>
          </a:xfrm>
          <a:prstGeom prst="rect">
            <a:avLst/>
          </a:prstGeom>
        </p:spPr>
      </p:pic>
      <p:sp>
        <p:nvSpPr>
          <p:cNvPr id="3" name="Text 0"/>
          <p:cNvSpPr/>
          <p:nvPr/>
        </p:nvSpPr>
        <p:spPr>
          <a:xfrm>
            <a:off x="483220" y="1716978"/>
            <a:ext cx="12557760" cy="47238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3F5F2"/>
                </a:solidFill>
                <a:latin typeface="Source Serif 4" pitchFamily="34" charset="0"/>
                <a:ea typeface="Source Serif 4" pitchFamily="34" charset="-122"/>
                <a:cs typeface="Source Serif 4" pitchFamily="34" charset="-120"/>
              </a:rPr>
              <a:t>Where the rides go</a:t>
            </a:r>
            <a:endParaRPr lang="en-US" sz="3200" dirty="0"/>
          </a:p>
        </p:txBody>
      </p:sp>
      <p:sp>
        <p:nvSpPr>
          <p:cNvPr id="4" name="Text 1"/>
          <p:cNvSpPr/>
          <p:nvPr/>
        </p:nvSpPr>
        <p:spPr>
          <a:xfrm>
            <a:off x="585439" y="2557346"/>
            <a:ext cx="12557760"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F3F5F2"/>
                </a:solidFill>
                <a:latin typeface="Inter" pitchFamily="34" charset="0"/>
                <a:ea typeface="Inter" pitchFamily="34" charset="-122"/>
                <a:cs typeface="Inter" pitchFamily="34" charset="-120"/>
              </a:rPr>
              <a:t>856 rides plotted from raw GPS. Brighter lines are faster riding.</a:t>
            </a:r>
            <a:endParaRPr lang="en-US" sz="1500" dirty="0"/>
          </a:p>
        </p:txBody>
      </p:sp>
      <p:sp>
        <p:nvSpPr>
          <p:cNvPr id="5" name="Text 2"/>
          <p:cNvSpPr/>
          <p:nvPr/>
        </p:nvSpPr>
        <p:spPr>
          <a:xfrm>
            <a:off x="585439" y="3047487"/>
            <a:ext cx="12557760" cy="301625"/>
          </a:xfrm>
          <a:prstGeom prst="rect">
            <a:avLst/>
          </a:prstGeom>
          <a:noFill/>
          <a:ln/>
        </p:spPr>
        <p:txBody>
          <a:bodyPr wrap="square" lIns="0" tIns="0" rIns="0" bIns="0" rtlCol="0" anchor="t">
            <a:normAutofit/>
          </a:bodyPr>
          <a:lstStyle/>
          <a:p>
            <a:pPr marL="0" indent="0" algn="l">
              <a:lnSpc>
                <a:spcPts val="2175"/>
              </a:lnSpc>
              <a:buNone/>
            </a:pPr>
            <a:r>
              <a:rPr lang="en-US" sz="1500" b="1" dirty="0">
                <a:solidFill>
                  <a:srgbClr val="FF7A62"/>
                </a:solidFill>
                <a:latin typeface="Inter" pitchFamily="34" charset="0"/>
                <a:ea typeface="Inter" pitchFamily="34" charset="-122"/>
                <a:cs typeface="Inter" pitchFamily="34" charset="-120"/>
              </a:rPr>
              <a:t>Red dots</a:t>
            </a:r>
            <a:r>
              <a:rPr lang="en-US" sz="1500" dirty="0">
                <a:solidFill>
                  <a:srgbClr val="F3F5F2"/>
                </a:solidFill>
                <a:latin typeface="Inter" pitchFamily="34" charset="0"/>
                <a:ea typeface="Inter" pitchFamily="34" charset="-122"/>
                <a:cs typeface="Inter" pitchFamily="34" charset="-120"/>
              </a:rPr>
              <a:t> are the 408 tagged incidents. Larger ones were marked scary.</a:t>
            </a:r>
            <a:endParaRPr lang="en-US" sz="1500" dirty="0"/>
          </a:p>
        </p:txBody>
      </p:sp>
      <p:sp>
        <p:nvSpPr>
          <p:cNvPr id="6" name="Text 3"/>
          <p:cNvSpPr/>
          <p:nvPr/>
        </p:nvSpPr>
        <p:spPr>
          <a:xfrm>
            <a:off x="585439" y="3566996"/>
            <a:ext cx="12557760"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C7D0CC"/>
                </a:solidFill>
                <a:latin typeface="Inter" pitchFamily="34" charset="0"/>
                <a:ea typeface="Inter" pitchFamily="34" charset="-122"/>
                <a:cs typeface="Inter" pitchFamily="34" charset="-120"/>
              </a:rPr>
              <a:t>Incidents cluster in the dense inner city, along the same corridors most riders use.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3F5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1608"/>
          </a:xfrm>
          <a:prstGeom prst="rect">
            <a:avLst/>
          </a:prstGeom>
          <a:noFill/>
          <a:ln/>
        </p:spPr>
        <p:txBody>
          <a:bodyPr wrap="square" lIns="0" tIns="0" rIns="0" bIns="0" rtlCol="0" anchor="t">
            <a:normAutofit/>
          </a:bodyPr>
          <a:lstStyle/>
          <a:p>
            <a:pPr marL="0" indent="0" algn="l">
              <a:lnSpc>
                <a:spcPts val="3614"/>
              </a:lnSpc>
              <a:buNone/>
            </a:pPr>
            <a:r>
              <a:rPr lang="en-US" sz="3285" b="1" dirty="0">
                <a:solidFill>
                  <a:srgbClr val="16242E"/>
                </a:solidFill>
                <a:latin typeface="Source Serif 4" pitchFamily="34" charset="0"/>
                <a:ea typeface="Source Serif 4" pitchFamily="34" charset="-122"/>
                <a:cs typeface="Source Serif 4" pitchFamily="34" charset="-120"/>
              </a:rPr>
              <a:t>Speed and stopping</a:t>
            </a:r>
            <a:endParaRPr lang="en-US" sz="3285" dirty="0"/>
          </a:p>
        </p:txBody>
      </p:sp>
      <p:pic>
        <p:nvPicPr>
          <p:cNvPr id="3" name="Image 0" descr="Histograms of moving speed per ride and stops per km"/>
          <p:cNvPicPr>
            <a:picLocks noChangeAspect="1"/>
          </p:cNvPicPr>
          <p:nvPr/>
        </p:nvPicPr>
        <p:blipFill>
          <a:blip r:embed="rId3"/>
          <a:stretch>
            <a:fillRect/>
          </a:stretch>
        </p:blipFill>
        <p:spPr>
          <a:xfrm>
            <a:off x="1276120" y="1573808"/>
            <a:ext cx="8979361" cy="3479502"/>
          </a:xfrm>
          <a:prstGeom prst="rect">
            <a:avLst/>
          </a:prstGeom>
        </p:spPr>
      </p:pic>
      <p:sp>
        <p:nvSpPr>
          <p:cNvPr id="4" name="Text 1"/>
          <p:cNvSpPr/>
          <p:nvPr/>
        </p:nvSpPr>
        <p:spPr>
          <a:xfrm>
            <a:off x="812800" y="5358110"/>
            <a:ext cx="10883392" cy="509290"/>
          </a:xfrm>
          <a:prstGeom prst="rect">
            <a:avLst/>
          </a:prstGeom>
          <a:noFill/>
          <a:ln/>
        </p:spPr>
        <p:txBody>
          <a:bodyPr wrap="square" lIns="0" tIns="0" rIns="0" bIns="0" rtlCol="0" anchor="t">
            <a:normAutofit/>
          </a:bodyPr>
          <a:lstStyle/>
          <a:p>
            <a:pPr marL="0" indent="0" algn="l">
              <a:lnSpc>
                <a:spcPts val="1910"/>
              </a:lnSpc>
              <a:buNone/>
            </a:pPr>
            <a:r>
              <a:rPr lang="en-US" sz="1364" dirty="0">
                <a:solidFill>
                  <a:srgbClr val="16242E"/>
                </a:solidFill>
                <a:latin typeface="Inter" pitchFamily="34" charset="0"/>
                <a:ea typeface="Inter" pitchFamily="34" charset="-122"/>
                <a:cs typeface="Inter" pitchFamily="34" charset="-120"/>
              </a:rPr>
              <a:t>Speed is close to bell-shaped around 18.5 km/h. Stops are right-skewed: most rides stop about once per km, a few stop constantly.</a:t>
            </a:r>
            <a:endParaRPr lang="en-US" sz="136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3F5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42E"/>
                </a:solidFill>
                <a:latin typeface="Source Serif 4" pitchFamily="34" charset="0"/>
                <a:ea typeface="Source Serif 4" pitchFamily="34" charset="-122"/>
                <a:cs typeface="Source Serif 4" pitchFamily="34" charset="-120"/>
              </a:rPr>
              <a:t>How the features relate</a:t>
            </a:r>
            <a:endParaRPr lang="en-US" sz="3600" dirty="0"/>
          </a:p>
        </p:txBody>
      </p:sp>
      <p:pic>
        <p:nvPicPr>
          <p:cNvPr id="3" name="Image 0" descr="Spearman correlation heatmap of ride features"/>
          <p:cNvPicPr>
            <a:picLocks noChangeAspect="1"/>
          </p:cNvPicPr>
          <p:nvPr/>
        </p:nvPicPr>
        <p:blipFill>
          <a:blip r:embed="rId3"/>
          <a:srcRect t="-125" b="-125"/>
          <a:stretch/>
        </p:blipFill>
        <p:spPr>
          <a:xfrm>
            <a:off x="812800" y="1620441"/>
            <a:ext cx="4826000" cy="4064000"/>
          </a:xfrm>
          <a:prstGeom prst="roundRect">
            <a:avLst>
              <a:gd name="adj" fmla="val 2500"/>
            </a:avLst>
          </a:prstGeom>
        </p:spPr>
      </p:pic>
      <p:sp>
        <p:nvSpPr>
          <p:cNvPr id="4" name="Text 1"/>
          <p:cNvSpPr/>
          <p:nvPr/>
        </p:nvSpPr>
        <p:spPr>
          <a:xfrm>
            <a:off x="5994400" y="2509639"/>
            <a:ext cx="554634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8A7E"/>
                </a:solidFill>
                <a:latin typeface="Inter" pitchFamily="34" charset="0"/>
                <a:ea typeface="Inter" pitchFamily="34" charset="-122"/>
                <a:cs typeface="Inter" pitchFamily="34" charset="-120"/>
              </a:rPr>
              <a:t>More turns, slower riding</a:t>
            </a:r>
            <a:endParaRPr lang="en-US" sz="1600" dirty="0"/>
          </a:p>
        </p:txBody>
      </p:sp>
      <p:sp>
        <p:nvSpPr>
          <p:cNvPr id="5" name="Text 2"/>
          <p:cNvSpPr/>
          <p:nvPr/>
        </p:nvSpPr>
        <p:spPr>
          <a:xfrm>
            <a:off x="5994400" y="2804220"/>
            <a:ext cx="554634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42E"/>
                </a:solidFill>
                <a:latin typeface="Inter" pitchFamily="34" charset="0"/>
                <a:ea typeface="Inter" pitchFamily="34" charset="-122"/>
                <a:cs typeface="Inter" pitchFamily="34" charset="-120"/>
              </a:rPr>
              <a:t>Turns per km vs moving speed: −0.46</a:t>
            </a:r>
            <a:endParaRPr lang="en-US" sz="1400" dirty="0"/>
          </a:p>
        </p:txBody>
      </p:sp>
      <p:sp>
        <p:nvSpPr>
          <p:cNvPr id="6" name="Text 3"/>
          <p:cNvSpPr/>
          <p:nvPr/>
        </p:nvSpPr>
        <p:spPr>
          <a:xfrm>
            <a:off x="5994400" y="3256260"/>
            <a:ext cx="554634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B8A7E"/>
                </a:solidFill>
                <a:latin typeface="Inter" pitchFamily="34" charset="0"/>
                <a:ea typeface="Inter" pitchFamily="34" charset="-122"/>
                <a:cs typeface="Inter" pitchFamily="34" charset="-120"/>
              </a:rPr>
              <a:t>Stops drive time lost</a:t>
            </a:r>
            <a:endParaRPr lang="en-US" sz="1600" dirty="0"/>
          </a:p>
        </p:txBody>
      </p:sp>
      <p:sp>
        <p:nvSpPr>
          <p:cNvPr id="7" name="Text 4"/>
          <p:cNvSpPr/>
          <p:nvPr/>
        </p:nvSpPr>
        <p:spPr>
          <a:xfrm>
            <a:off x="5994400" y="3550841"/>
            <a:ext cx="554634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42E"/>
                </a:solidFill>
                <a:latin typeface="Inter" pitchFamily="34" charset="0"/>
                <a:ea typeface="Inter" pitchFamily="34" charset="-122"/>
                <a:cs typeface="Inter" pitchFamily="34" charset="-120"/>
              </a:rPr>
              <a:t>Stops per km vs share of time stopped: 0.86</a:t>
            </a:r>
            <a:endParaRPr lang="en-US" sz="1400" dirty="0"/>
          </a:p>
        </p:txBody>
      </p:sp>
      <p:sp>
        <p:nvSpPr>
          <p:cNvPr id="8" name="Text 5"/>
          <p:cNvSpPr/>
          <p:nvPr/>
        </p:nvSpPr>
        <p:spPr>
          <a:xfrm>
            <a:off x="5994400" y="4002881"/>
            <a:ext cx="5546344"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D9472F"/>
                </a:solidFill>
                <a:latin typeface="Inter" pitchFamily="34" charset="0"/>
                <a:ea typeface="Inter" pitchFamily="34" charset="-122"/>
                <a:cs typeface="Inter" pitchFamily="34" charset="-120"/>
              </a:rPr>
              <a:t>GPS noise leaks in</a:t>
            </a:r>
            <a:endParaRPr lang="en-US" sz="1600" dirty="0"/>
          </a:p>
        </p:txBody>
      </p:sp>
      <p:sp>
        <p:nvSpPr>
          <p:cNvPr id="9" name="Text 6"/>
          <p:cNvSpPr/>
          <p:nvPr/>
        </p:nvSpPr>
        <p:spPr>
          <a:xfrm>
            <a:off x="5994400" y="4297462"/>
            <a:ext cx="5546344"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42E"/>
                </a:solidFill>
                <a:latin typeface="Inter" pitchFamily="34" charset="0"/>
                <a:ea typeface="Inter" pitchFamily="34" charset="-122"/>
                <a:cs typeface="Inter" pitchFamily="34" charset="-120"/>
              </a:rPr>
              <a:t>Acceleration variability vs GPS error: 0.73. Some "jerky" riding is really a bad signal.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3F5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42E"/>
                </a:solidFill>
                <a:latin typeface="Source Serif 4" pitchFamily="34" charset="0"/>
                <a:ea typeface="Source Serif 4" pitchFamily="34" charset="-122"/>
                <a:cs typeface="Source Serif 4" pitchFamily="34" charset="-120"/>
              </a:rPr>
              <a:t>Near-miss incidents</a:t>
            </a:r>
            <a:endParaRPr lang="en-US" sz="3600" dirty="0"/>
          </a:p>
        </p:txBody>
      </p:sp>
      <p:pic>
        <p:nvPicPr>
          <p:cNvPr id="3" name="Image 0" descr="Bar chart of incident types, scary share in red"/>
          <p:cNvPicPr>
            <a:picLocks noChangeAspect="1"/>
          </p:cNvPicPr>
          <p:nvPr/>
        </p:nvPicPr>
        <p:blipFill>
          <a:blip r:embed="rId3"/>
          <a:srcRect/>
          <a:stretch/>
        </p:blipFill>
        <p:spPr>
          <a:xfrm>
            <a:off x="812800" y="1620441"/>
            <a:ext cx="5588000" cy="3911600"/>
          </a:xfrm>
          <a:prstGeom prst="roundRect">
            <a:avLst>
              <a:gd name="adj" fmla="val 2597"/>
            </a:avLst>
          </a:prstGeom>
        </p:spPr>
      </p:pic>
      <p:sp>
        <p:nvSpPr>
          <p:cNvPr id="4" name="Text 1"/>
          <p:cNvSpPr/>
          <p:nvPr/>
        </p:nvSpPr>
        <p:spPr>
          <a:xfrm>
            <a:off x="6756400" y="1813719"/>
            <a:ext cx="4761484"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D9472F"/>
                </a:solidFill>
                <a:latin typeface="Source Serif 4" pitchFamily="34" charset="0"/>
                <a:ea typeface="Source Serif 4" pitchFamily="34" charset="-122"/>
                <a:cs typeface="Source Serif 4" pitchFamily="34" charset="-120"/>
              </a:rPr>
              <a:t>50%</a:t>
            </a:r>
            <a:endParaRPr lang="en-US" sz="3200" dirty="0"/>
          </a:p>
        </p:txBody>
      </p:sp>
      <p:sp>
        <p:nvSpPr>
          <p:cNvPr id="5" name="Text 2"/>
          <p:cNvSpPr/>
          <p:nvPr/>
        </p:nvSpPr>
        <p:spPr>
          <a:xfrm>
            <a:off x="6756400" y="2408039"/>
            <a:ext cx="476148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42E"/>
                </a:solidFill>
                <a:latin typeface="Inter" pitchFamily="34" charset="0"/>
                <a:ea typeface="Inter" pitchFamily="34" charset="-122"/>
                <a:cs typeface="Inter" pitchFamily="34" charset="-120"/>
              </a:rPr>
              <a:t>of incidents are close passes</a:t>
            </a:r>
            <a:endParaRPr lang="en-US" sz="1400" dirty="0"/>
          </a:p>
        </p:txBody>
      </p:sp>
      <p:sp>
        <p:nvSpPr>
          <p:cNvPr id="6" name="Text 3"/>
          <p:cNvSpPr/>
          <p:nvPr/>
        </p:nvSpPr>
        <p:spPr>
          <a:xfrm>
            <a:off x="6756400" y="2834680"/>
            <a:ext cx="4761484"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D9472F"/>
                </a:solidFill>
                <a:latin typeface="Source Serif 4" pitchFamily="34" charset="0"/>
                <a:ea typeface="Source Serif 4" pitchFamily="34" charset="-122"/>
                <a:cs typeface="Source Serif 4" pitchFamily="34" charset="-120"/>
              </a:rPr>
              <a:t>73%</a:t>
            </a:r>
            <a:endParaRPr lang="en-US" sz="3200" dirty="0"/>
          </a:p>
        </p:txBody>
      </p:sp>
      <p:sp>
        <p:nvSpPr>
          <p:cNvPr id="7" name="Text 4"/>
          <p:cNvSpPr/>
          <p:nvPr/>
        </p:nvSpPr>
        <p:spPr>
          <a:xfrm>
            <a:off x="6756400" y="3429000"/>
            <a:ext cx="476148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42E"/>
                </a:solidFill>
                <a:latin typeface="Inter" pitchFamily="34" charset="0"/>
                <a:ea typeface="Inter" pitchFamily="34" charset="-122"/>
                <a:cs typeface="Inter" pitchFamily="34" charset="-120"/>
              </a:rPr>
              <a:t>involve a car</a:t>
            </a:r>
            <a:endParaRPr lang="en-US" sz="1400" dirty="0"/>
          </a:p>
        </p:txBody>
      </p:sp>
      <p:sp>
        <p:nvSpPr>
          <p:cNvPr id="8" name="Text 5"/>
          <p:cNvSpPr/>
          <p:nvPr/>
        </p:nvSpPr>
        <p:spPr>
          <a:xfrm>
            <a:off x="6756400" y="3855641"/>
            <a:ext cx="4761484"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6242E"/>
                </a:solidFill>
                <a:latin typeface="Source Serif 4" pitchFamily="34" charset="0"/>
                <a:ea typeface="Source Serif 4" pitchFamily="34" charset="-122"/>
                <a:cs typeface="Source Serif 4" pitchFamily="34" charset="-120"/>
              </a:rPr>
              <a:t>8.3</a:t>
            </a:r>
            <a:endParaRPr lang="en-US" sz="3200" dirty="0"/>
          </a:p>
        </p:txBody>
      </p:sp>
      <p:sp>
        <p:nvSpPr>
          <p:cNvPr id="9" name="Text 6"/>
          <p:cNvSpPr/>
          <p:nvPr/>
        </p:nvSpPr>
        <p:spPr>
          <a:xfrm>
            <a:off x="6756400" y="4449961"/>
            <a:ext cx="476148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42E"/>
                </a:solidFill>
                <a:latin typeface="Inter" pitchFamily="34" charset="0"/>
                <a:ea typeface="Inter" pitchFamily="34" charset="-122"/>
                <a:cs typeface="Inter" pitchFamily="34" charset="-120"/>
              </a:rPr>
              <a:t>incidents per 100 km ridden</a:t>
            </a:r>
            <a:endParaRPr lang="en-US" sz="1400" dirty="0"/>
          </a:p>
        </p:txBody>
      </p:sp>
      <p:sp>
        <p:nvSpPr>
          <p:cNvPr id="10" name="Text 7"/>
          <p:cNvSpPr/>
          <p:nvPr/>
        </p:nvSpPr>
        <p:spPr>
          <a:xfrm>
            <a:off x="6756400" y="4876602"/>
            <a:ext cx="476148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D6B73"/>
                </a:solidFill>
                <a:latin typeface="Inter" pitchFamily="34" charset="0"/>
                <a:ea typeface="Inter" pitchFamily="34" charset="-122"/>
                <a:cs typeface="Inter" pitchFamily="34" charset="-120"/>
              </a:rPr>
              <a:t>Head-on approaches are rarer but the scariest (52% flagged).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3F5F2"/>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16242E"/>
                </a:solidFill>
                <a:latin typeface="Source Serif 4" pitchFamily="34" charset="0"/>
                <a:ea typeface="Source Serif 4" pitchFamily="34" charset="-122"/>
                <a:cs typeface="Source Serif 4" pitchFamily="34" charset="-120"/>
              </a:rPr>
              <a:t>First look at riding styles</a:t>
            </a:r>
            <a:endParaRPr lang="en-US" sz="3600" dirty="0"/>
          </a:p>
        </p:txBody>
      </p:sp>
      <p:pic>
        <p:nvPicPr>
          <p:cNvPr id="3" name="Image 0" descr="Scatter of moving speed vs stops per km colored by k-means cluster"/>
          <p:cNvPicPr>
            <a:picLocks noChangeAspect="1"/>
          </p:cNvPicPr>
          <p:nvPr/>
        </p:nvPicPr>
        <p:blipFill>
          <a:blip r:embed="rId3"/>
          <a:srcRect l="-31" r="-31"/>
          <a:stretch/>
        </p:blipFill>
        <p:spPr>
          <a:xfrm>
            <a:off x="812800" y="1620441"/>
            <a:ext cx="5334000" cy="3683000"/>
          </a:xfrm>
          <a:prstGeom prst="roundRect">
            <a:avLst>
              <a:gd name="adj" fmla="val 2759"/>
            </a:avLst>
          </a:prstGeom>
        </p:spPr>
      </p:pic>
      <p:sp>
        <p:nvSpPr>
          <p:cNvPr id="4" name="Shape 1"/>
          <p:cNvSpPr/>
          <p:nvPr/>
        </p:nvSpPr>
        <p:spPr>
          <a:xfrm>
            <a:off x="6451600" y="1920280"/>
            <a:ext cx="4927600" cy="866080"/>
          </a:xfrm>
          <a:prstGeom prst="roundRect">
            <a:avLst>
              <a:gd name="adj" fmla="val 11731"/>
            </a:avLst>
          </a:prstGeom>
          <a:solidFill>
            <a:srgbClr val="FFFFFF"/>
          </a:solidFill>
          <a:ln/>
          <a:effectLst>
            <a:outerShdw blurRad="114300" dist="38100" dir="5400000" algn="bl" rotWithShape="0">
              <a:srgbClr val="16242E">
                <a:alpha val="7000"/>
              </a:srgbClr>
            </a:outerShdw>
          </a:effectLst>
        </p:spPr>
      </p:sp>
      <p:sp>
        <p:nvSpPr>
          <p:cNvPr id="5" name="Text 2"/>
          <p:cNvSpPr/>
          <p:nvPr/>
        </p:nvSpPr>
        <p:spPr>
          <a:xfrm>
            <a:off x="6654800" y="2098080"/>
            <a:ext cx="465683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D9472F"/>
                </a:solidFill>
                <a:latin typeface="Inter" pitchFamily="34" charset="0"/>
                <a:ea typeface="Inter" pitchFamily="34" charset="-122"/>
                <a:cs typeface="Inter" pitchFamily="34" charset="-120"/>
              </a:rPr>
              <a:t>Steady cruisers (287)</a:t>
            </a:r>
            <a:endParaRPr lang="en-US" sz="1500" dirty="0"/>
          </a:p>
        </p:txBody>
      </p:sp>
      <p:sp>
        <p:nvSpPr>
          <p:cNvPr id="6" name="Text 3"/>
          <p:cNvSpPr/>
          <p:nvPr/>
        </p:nvSpPr>
        <p:spPr>
          <a:xfrm>
            <a:off x="6654800" y="2377480"/>
            <a:ext cx="465683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Fastest, 21.4 km/h, few turns, longer rides.</a:t>
            </a:r>
            <a:endParaRPr lang="en-US" sz="1300" dirty="0"/>
          </a:p>
        </p:txBody>
      </p:sp>
      <p:sp>
        <p:nvSpPr>
          <p:cNvPr id="7" name="Shape 4"/>
          <p:cNvSpPr/>
          <p:nvPr/>
        </p:nvSpPr>
        <p:spPr>
          <a:xfrm>
            <a:off x="6451600" y="2913360"/>
            <a:ext cx="4927600" cy="866080"/>
          </a:xfrm>
          <a:prstGeom prst="roundRect">
            <a:avLst>
              <a:gd name="adj" fmla="val 11731"/>
            </a:avLst>
          </a:prstGeom>
          <a:solidFill>
            <a:srgbClr val="FFFFFF"/>
          </a:solidFill>
          <a:ln/>
          <a:effectLst>
            <a:outerShdw blurRad="114300" dist="38100" dir="5400000" algn="bl" rotWithShape="0">
              <a:srgbClr val="16242E">
                <a:alpha val="7000"/>
              </a:srgbClr>
            </a:outerShdw>
          </a:effectLst>
        </p:spPr>
      </p:sp>
      <p:sp>
        <p:nvSpPr>
          <p:cNvPr id="8" name="Text 5"/>
          <p:cNvSpPr/>
          <p:nvPr/>
        </p:nvSpPr>
        <p:spPr>
          <a:xfrm>
            <a:off x="6654800" y="3091160"/>
            <a:ext cx="465683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B8A7E"/>
                </a:solidFill>
                <a:latin typeface="Inter" pitchFamily="34" charset="0"/>
                <a:ea typeface="Inter" pitchFamily="34" charset="-122"/>
                <a:cs typeface="Inter" pitchFamily="34" charset="-120"/>
              </a:rPr>
              <a:t>Stop-and-go (242)</a:t>
            </a:r>
            <a:endParaRPr lang="en-US" sz="1500" dirty="0"/>
          </a:p>
        </p:txBody>
      </p:sp>
      <p:sp>
        <p:nvSpPr>
          <p:cNvPr id="9" name="Text 6"/>
          <p:cNvSpPr/>
          <p:nvPr/>
        </p:nvSpPr>
        <p:spPr>
          <a:xfrm>
            <a:off x="6654800" y="3370560"/>
            <a:ext cx="4656836"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Slowest, 15.6 km/h, about 2 stops per km.</a:t>
            </a:r>
            <a:endParaRPr lang="en-US" sz="1300" dirty="0"/>
          </a:p>
        </p:txBody>
      </p:sp>
      <p:sp>
        <p:nvSpPr>
          <p:cNvPr id="10" name="Shape 7"/>
          <p:cNvSpPr/>
          <p:nvPr/>
        </p:nvSpPr>
        <p:spPr>
          <a:xfrm>
            <a:off x="6451600" y="3906441"/>
            <a:ext cx="4927600" cy="1097161"/>
          </a:xfrm>
          <a:prstGeom prst="roundRect">
            <a:avLst>
              <a:gd name="adj" fmla="val 9260"/>
            </a:avLst>
          </a:prstGeom>
          <a:solidFill>
            <a:srgbClr val="FFFFFF"/>
          </a:solidFill>
          <a:ln/>
          <a:effectLst>
            <a:outerShdw blurRad="114300" dist="38100" dir="5400000" algn="bl" rotWithShape="0">
              <a:srgbClr val="16242E">
                <a:alpha val="7000"/>
              </a:srgbClr>
            </a:outerShdw>
          </a:effectLst>
        </p:spPr>
      </p:sp>
      <p:sp>
        <p:nvSpPr>
          <p:cNvPr id="11" name="Text 8"/>
          <p:cNvSpPr/>
          <p:nvPr/>
        </p:nvSpPr>
        <p:spPr>
          <a:xfrm>
            <a:off x="6654800" y="4084241"/>
            <a:ext cx="465683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5D6B73"/>
                </a:solidFill>
                <a:latin typeface="Inter" pitchFamily="34" charset="0"/>
                <a:ea typeface="Inter" pitchFamily="34" charset="-122"/>
                <a:cs typeface="Inter" pitchFamily="34" charset="-120"/>
              </a:rPr>
              <a:t>Noisy-GPS rides (327)</a:t>
            </a:r>
            <a:endParaRPr lang="en-US" sz="1500" dirty="0"/>
          </a:p>
        </p:txBody>
      </p:sp>
      <p:sp>
        <p:nvSpPr>
          <p:cNvPr id="12" name="Text 9"/>
          <p:cNvSpPr/>
          <p:nvPr/>
        </p:nvSpPr>
        <p:spPr>
          <a:xfrm>
            <a:off x="6654800" y="4363641"/>
            <a:ext cx="4656836"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2"/>
                </a:solidFill>
                <a:latin typeface="Inter" pitchFamily="34" charset="0"/>
                <a:ea typeface="Inter" pitchFamily="34" charset="-122"/>
                <a:cs typeface="Inter" pitchFamily="34" charset="-120"/>
              </a:rPr>
              <a:t>96% had the phone in a pocket. A data artifact, not a style.</a:t>
            </a:r>
            <a:endParaRPr lang="en-US" sz="1300" dirty="0"/>
          </a:p>
        </p:txBody>
      </p:sp>
      <p:sp>
        <p:nvSpPr>
          <p:cNvPr id="13" name="Text 10"/>
          <p:cNvSpPr/>
          <p:nvPr/>
        </p:nvSpPr>
        <p:spPr>
          <a:xfrm>
            <a:off x="812800" y="560824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D6B73"/>
                </a:solidFill>
                <a:latin typeface="Inter" pitchFamily="34" charset="0"/>
                <a:ea typeface="Inter" pitchFamily="34" charset="-122"/>
                <a:cs typeface="Inter" pitchFamily="34" charset="-120"/>
              </a:rPr>
              <a:t>Preliminary k-means (k = 3) on 6 standardized features. Silhouette 0.25, so groups overlap.</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3F5F2"/>
        </a:solidFill>
        <a:effectLst/>
      </p:bgPr>
    </p:bg>
    <p:spTree>
      <p:nvGrpSpPr>
        <p:cNvPr id="1" name="">
          <a:extLst>
            <a:ext uri="{FF2B5EF4-FFF2-40B4-BE49-F238E27FC236}">
              <a16:creationId xmlns:a16="http://schemas.microsoft.com/office/drawing/2014/main" id="{5EC4F51F-D5E4-9E16-16A8-8445B867A75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271D6CA-3586-73E2-BAA7-0C87650D1968}"/>
              </a:ext>
            </a:extLst>
          </p:cNvPr>
          <p:cNvSpPr/>
          <p:nvPr/>
        </p:nvSpPr>
        <p:spPr>
          <a:xfrm>
            <a:off x="797956" y="496125"/>
            <a:ext cx="10883392" cy="528241"/>
          </a:xfrm>
          <a:prstGeom prst="rect">
            <a:avLst/>
          </a:prstGeom>
          <a:noFill/>
          <a:ln/>
        </p:spPr>
        <p:txBody>
          <a:bodyPr wrap="square" lIns="0" tIns="0" rIns="0" bIns="0" rtlCol="0" anchor="t">
            <a:normAutofit/>
          </a:bodyPr>
          <a:lstStyle/>
          <a:p>
            <a:pPr algn="ctr">
              <a:lnSpc>
                <a:spcPts val="3960"/>
              </a:lnSpc>
            </a:pPr>
            <a:r>
              <a:rPr lang="en-US" sz="3600" b="1" u="sng" dirty="0">
                <a:solidFill>
                  <a:srgbClr val="16242E"/>
                </a:solidFill>
                <a:latin typeface="Source Serif 4"/>
                <a:ea typeface="Source Serif 4"/>
              </a:rPr>
              <a:t>Sources</a:t>
            </a:r>
            <a:endParaRPr lang="en-US" b="1" u="sng" dirty="0">
              <a:ea typeface="Source Serif 4"/>
              <a:cs typeface="Calibri" panose="020F0502020204030204"/>
            </a:endParaRPr>
          </a:p>
        </p:txBody>
      </p:sp>
      <p:sp>
        <p:nvSpPr>
          <p:cNvPr id="15" name="TextBox 14">
            <a:extLst>
              <a:ext uri="{FF2B5EF4-FFF2-40B4-BE49-F238E27FC236}">
                <a16:creationId xmlns:a16="http://schemas.microsoft.com/office/drawing/2014/main" id="{F6647DF6-B31A-8705-9D7D-7CA570FAC395}"/>
              </a:ext>
            </a:extLst>
          </p:cNvPr>
          <p:cNvSpPr txBox="1"/>
          <p:nvPr/>
        </p:nvSpPr>
        <p:spPr>
          <a:xfrm>
            <a:off x="603662" y="1509156"/>
            <a:ext cx="11271662"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i="0" u="sng" dirty="0">
                <a:latin typeface="system-ui"/>
                <a:ea typeface="system-ui"/>
                <a:cs typeface="system-ui"/>
              </a:rPr>
              <a:t>Main dataset (what the </a:t>
            </a:r>
            <a:r>
              <a:rPr lang="en-US" b="1" u="sng" dirty="0">
                <a:latin typeface="system-ui"/>
                <a:ea typeface="system-ui"/>
                <a:cs typeface="system-ui"/>
              </a:rPr>
              <a:t>python notebook</a:t>
            </a:r>
            <a:r>
              <a:rPr lang="en-US" b="1" i="0" u="sng" dirty="0">
                <a:latin typeface="system-ui"/>
                <a:ea typeface="system-ui"/>
                <a:cs typeface="system-ui"/>
              </a:rPr>
              <a:t> uses)</a:t>
            </a:r>
          </a:p>
          <a:p>
            <a:endParaRPr lang="en-US" b="1" u="sng" dirty="0">
              <a:latin typeface="system-ui"/>
              <a:ea typeface="system-ui"/>
              <a:cs typeface="system-ui"/>
            </a:endParaRPr>
          </a:p>
          <a:p>
            <a:pPr algn="l">
              <a:buFont typeface=""/>
              <a:buChar char="•"/>
            </a:pPr>
            <a:r>
              <a:rPr lang="en-US" b="0" i="0" dirty="0">
                <a:latin typeface="system-ui"/>
                <a:ea typeface="system-ui"/>
                <a:cs typeface="system-ui"/>
              </a:rPr>
              <a:t>SimRa dataset on GitHub: </a:t>
            </a:r>
            <a:r>
              <a:rPr lang="en-US" b="0" i="0" u="none" strike="noStrike" dirty="0">
                <a:solidFill>
                  <a:srgbClr val="0D47A1"/>
                </a:solidFill>
                <a:latin typeface="system-ui"/>
                <a:ea typeface="system-ui"/>
                <a:cs typeface="system-ui"/>
                <a:hlinkClick r:id="rId3"/>
              </a:rPr>
              <a:t>https://github.com/simra-project/dataset</a:t>
            </a:r>
          </a:p>
          <a:p>
            <a:pPr algn="l">
              <a:buFont typeface=""/>
              <a:buChar char="•"/>
            </a:pPr>
            <a:r>
              <a:rPr lang="en-US" b="0" i="0" dirty="0">
                <a:latin typeface="system-ui"/>
                <a:ea typeface="system-ui"/>
                <a:cs typeface="system-ui"/>
              </a:rPr>
              <a:t>The exact folder I pulled: Berlin_2023_06 in that repo (877 ride files, the June 2023 batch)</a:t>
            </a:r>
          </a:p>
          <a:p>
            <a:pPr algn="l">
              <a:buFont typeface=""/>
              <a:buChar char="•"/>
            </a:pPr>
            <a:r>
              <a:rPr lang="en-US" b="0" i="0" dirty="0">
                <a:latin typeface="system-ui"/>
                <a:ea typeface="system-ui"/>
                <a:cs typeface="system-ui"/>
              </a:rPr>
              <a:t>legend.txt in the same repo explains the codes for bike type, phone position, incident type and who was involved</a:t>
            </a:r>
          </a:p>
          <a:p>
            <a:endParaRPr lang="en-US" dirty="0">
              <a:latin typeface="system-ui"/>
              <a:ea typeface="system-ui"/>
              <a:cs typeface="system-ui"/>
            </a:endParaRPr>
          </a:p>
          <a:p>
            <a:endParaRPr lang="en-US" dirty="0">
              <a:latin typeface="system-ui"/>
              <a:ea typeface="system-ui"/>
              <a:cs typeface="system-ui"/>
            </a:endParaRPr>
          </a:p>
          <a:p>
            <a:pPr algn="l"/>
            <a:r>
              <a:rPr lang="en-US" b="1" i="0" u="sng" dirty="0">
                <a:latin typeface="system-ui"/>
                <a:ea typeface="system-ui"/>
                <a:cs typeface="system-ui"/>
              </a:rPr>
              <a:t>Related</a:t>
            </a:r>
            <a:endParaRPr lang="en-US" b="1" u="sng">
              <a:ea typeface="Calibri"/>
              <a:cs typeface="Calibri"/>
            </a:endParaRPr>
          </a:p>
          <a:p>
            <a:endParaRPr lang="en-US" b="1" u="sng" dirty="0">
              <a:latin typeface="system-ui"/>
              <a:ea typeface="system-ui"/>
              <a:cs typeface="system-ui"/>
            </a:endParaRPr>
          </a:p>
          <a:p>
            <a:pPr algn="l">
              <a:buFont typeface=""/>
              <a:buChar char="•"/>
            </a:pPr>
            <a:r>
              <a:rPr lang="en-US" b="0" i="0" dirty="0">
                <a:latin typeface="system-ui"/>
                <a:ea typeface="system-ui"/>
                <a:cs typeface="system-ui"/>
              </a:rPr>
              <a:t>SimRa GitHub org (the app and other project code): </a:t>
            </a:r>
            <a:r>
              <a:rPr lang="en-US" b="0" i="0" u="none" strike="noStrike" dirty="0">
                <a:solidFill>
                  <a:srgbClr val="0D47A1"/>
                </a:solidFill>
                <a:latin typeface="system-ui"/>
                <a:ea typeface="system-ui"/>
                <a:cs typeface="system-ui"/>
                <a:hlinkClick r:id="rId4"/>
              </a:rPr>
              <a:t>https://github.com/simra-project</a:t>
            </a:r>
          </a:p>
          <a:p>
            <a:pPr algn="l">
              <a:buFont typeface=""/>
              <a:buChar char="•"/>
            </a:pPr>
            <a:r>
              <a:rPr lang="en-US" b="0" i="0" dirty="0">
                <a:latin typeface="system-ui"/>
                <a:ea typeface="system-ui"/>
                <a:cs typeface="system-ui"/>
              </a:rPr>
              <a:t>SimRa dashboard (good for a screenshot or showing hot spots): </a:t>
            </a:r>
            <a:r>
              <a:rPr lang="en-US" b="0" i="0" u="none" strike="noStrike" dirty="0">
                <a:solidFill>
                  <a:srgbClr val="0D47A1"/>
                </a:solidFill>
                <a:latin typeface="system-ui"/>
                <a:ea typeface="system-ui"/>
                <a:cs typeface="system-ui"/>
                <a:hlinkClick r:id="rId5"/>
              </a:rPr>
              <a:t>https://simra-project.github.io/dashboard/</a:t>
            </a:r>
          </a:p>
          <a:p>
            <a:pPr algn="l">
              <a:buFont typeface=""/>
              <a:buChar char="•"/>
            </a:pPr>
            <a:r>
              <a:rPr lang="en-US" b="0" i="0" dirty="0">
                <a:latin typeface="system-ui"/>
                <a:ea typeface="system-ui"/>
                <a:cs typeface="system-ui"/>
              </a:rPr>
              <a:t>Older bulk releases on DepositOnce (from your proposal): </a:t>
            </a:r>
            <a:r>
              <a:rPr lang="en-US" b="0" i="0" u="none" strike="noStrike" dirty="0">
                <a:solidFill>
                  <a:srgbClr val="0D47A1"/>
                </a:solidFill>
                <a:latin typeface="system-ui"/>
                <a:ea typeface="system-ui"/>
                <a:cs typeface="system-ui"/>
                <a:hlinkClick r:id="rId6"/>
              </a:rPr>
              <a:t>https://doi.org/10.14279/depositonce-10605</a:t>
            </a:r>
            <a:r>
              <a:rPr lang="en-US" b="0" i="0" dirty="0">
                <a:latin typeface="system-ui"/>
                <a:ea typeface="system-ui"/>
                <a:cs typeface="system-ui"/>
              </a:rPr>
              <a:t> through </a:t>
            </a:r>
            <a:r>
              <a:rPr lang="en-US" b="0" i="0" u="none" strike="noStrike" dirty="0">
                <a:solidFill>
                  <a:srgbClr val="0D47A1"/>
                </a:solidFill>
                <a:latin typeface="system-ui"/>
                <a:ea typeface="system-ui"/>
                <a:cs typeface="system-ui"/>
                <a:hlinkClick r:id="rId7"/>
              </a:rPr>
              <a:t>https://doi.org/10.14279/depositonce-22968</a:t>
            </a:r>
          </a:p>
          <a:p>
            <a:pPr algn="l">
              <a:buFont typeface=""/>
              <a:buChar char="•"/>
            </a:pPr>
            <a:r>
              <a:rPr lang="en-US" b="0" i="0" dirty="0">
                <a:latin typeface="system-ui"/>
                <a:ea typeface="system-ui"/>
                <a:cs typeface="system-ui"/>
              </a:rPr>
              <a:t>OpenStreetMap Berlin road network for map matching (Geofabrik): </a:t>
            </a:r>
            <a:r>
              <a:rPr lang="en-US" b="0" i="0" u="none" strike="noStrike" dirty="0">
                <a:solidFill>
                  <a:srgbClr val="0D47A1"/>
                </a:solidFill>
                <a:latin typeface="system-ui"/>
                <a:ea typeface="system-ui"/>
                <a:cs typeface="system-ui"/>
                <a:hlinkClick r:id="rId8"/>
              </a:rPr>
              <a:t>https://download.geofabrik.de/europe/germany/berlin.html</a:t>
            </a:r>
          </a:p>
          <a:p>
            <a:endParaRPr lang="en-US"/>
          </a:p>
          <a:p>
            <a:pPr algn="ctr"/>
            <a:endParaRPr lang="en-US"/>
          </a:p>
        </p:txBody>
      </p:sp>
    </p:spTree>
    <p:extLst>
      <p:ext uri="{BB962C8B-B14F-4D97-AF65-F5344CB8AC3E}">
        <p14:creationId xmlns:p14="http://schemas.microsoft.com/office/powerpoint/2010/main" val="1519806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6242E"/>
        </a:solidFill>
        <a:effectLst/>
      </p:bgPr>
    </p:bg>
    <p:spTree>
      <p:nvGrpSpPr>
        <p:cNvPr id="1" name=""/>
        <p:cNvGrpSpPr/>
        <p:nvPr/>
      </p:nvGrpSpPr>
      <p:grpSpPr>
        <a:xfrm>
          <a:off x="0" y="0"/>
          <a:ext cx="0" cy="0"/>
          <a:chOff x="0" y="0"/>
          <a:chExt cx="0" cy="0"/>
        </a:xfrm>
      </p:grpSpPr>
      <p:sp>
        <p:nvSpPr>
          <p:cNvPr id="3" name="Text 1"/>
          <p:cNvSpPr/>
          <p:nvPr/>
        </p:nvSpPr>
        <p:spPr>
          <a:xfrm>
            <a:off x="812800" y="441093"/>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F3F5F2"/>
                </a:solidFill>
                <a:latin typeface="Source Serif 4" pitchFamily="34" charset="0"/>
                <a:ea typeface="Source Serif 4" pitchFamily="34" charset="-122"/>
                <a:cs typeface="Source Serif 4" pitchFamily="34" charset="-120"/>
              </a:rPr>
              <a:t>Next steps</a:t>
            </a:r>
            <a:endParaRPr lang="en-US" sz="3600" dirty="0"/>
          </a:p>
        </p:txBody>
      </p:sp>
      <p:pic>
        <p:nvPicPr>
          <p:cNvPr id="4" name="Image 0" descr="Globe"/>
          <p:cNvPicPr>
            <a:picLocks noChangeAspect="1"/>
          </p:cNvPicPr>
          <p:nvPr/>
        </p:nvPicPr>
        <p:blipFill>
          <a:blip r:embed="rId3"/>
          <a:srcRect/>
          <a:stretch/>
        </p:blipFill>
        <p:spPr>
          <a:xfrm>
            <a:off x="571190" y="1405518"/>
            <a:ext cx="304800" cy="304800"/>
          </a:xfrm>
          <a:prstGeom prst="rect">
            <a:avLst/>
          </a:prstGeom>
        </p:spPr>
      </p:pic>
      <p:sp>
        <p:nvSpPr>
          <p:cNvPr id="5" name="Text 2"/>
          <p:cNvSpPr/>
          <p:nvPr/>
        </p:nvSpPr>
        <p:spPr>
          <a:xfrm>
            <a:off x="1028390" y="1429331"/>
            <a:ext cx="4338293"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3F5F2"/>
                </a:solidFill>
                <a:latin typeface="Inter" pitchFamily="34" charset="0"/>
                <a:ea typeface="Inter" pitchFamily="34" charset="-122"/>
                <a:cs typeface="Inter" pitchFamily="34" charset="-120"/>
              </a:rPr>
              <a:t>Map-match all rides to the OSM Berlin network</a:t>
            </a:r>
            <a:endParaRPr lang="en-US" sz="1500" dirty="0"/>
          </a:p>
        </p:txBody>
      </p:sp>
      <p:pic>
        <p:nvPicPr>
          <p:cNvPr id="6" name="Image 1" descr="Settings"/>
          <p:cNvPicPr>
            <a:picLocks noChangeAspect="1"/>
          </p:cNvPicPr>
          <p:nvPr/>
        </p:nvPicPr>
        <p:blipFill>
          <a:blip r:embed="rId4"/>
          <a:srcRect/>
          <a:stretch/>
        </p:blipFill>
        <p:spPr>
          <a:xfrm>
            <a:off x="571190" y="1913518"/>
            <a:ext cx="304800" cy="304800"/>
          </a:xfrm>
          <a:prstGeom prst="rect">
            <a:avLst/>
          </a:prstGeom>
        </p:spPr>
      </p:pic>
      <p:sp>
        <p:nvSpPr>
          <p:cNvPr id="7" name="Text 3"/>
          <p:cNvSpPr/>
          <p:nvPr/>
        </p:nvSpPr>
        <p:spPr>
          <a:xfrm>
            <a:off x="1028390" y="1937331"/>
            <a:ext cx="4010655"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3F5F2"/>
                </a:solidFill>
                <a:latin typeface="Inter" pitchFamily="34" charset="0"/>
                <a:ea typeface="Inter" pitchFamily="34" charset="-122"/>
                <a:cs typeface="Inter" pitchFamily="34" charset="-120"/>
              </a:rPr>
              <a:t>Smooth GPS and control for phone position</a:t>
            </a:r>
            <a:endParaRPr lang="en-US" sz="1500" dirty="0"/>
          </a:p>
        </p:txBody>
      </p:sp>
      <p:pic>
        <p:nvPicPr>
          <p:cNvPr id="8" name="Image 2" descr="Database"/>
          <p:cNvPicPr>
            <a:picLocks noChangeAspect="1"/>
          </p:cNvPicPr>
          <p:nvPr/>
        </p:nvPicPr>
        <p:blipFill>
          <a:blip r:embed="rId5"/>
          <a:srcRect/>
          <a:stretch/>
        </p:blipFill>
        <p:spPr>
          <a:xfrm>
            <a:off x="571190" y="2421518"/>
            <a:ext cx="304800" cy="304800"/>
          </a:xfrm>
          <a:prstGeom prst="rect">
            <a:avLst/>
          </a:prstGeom>
        </p:spPr>
      </p:pic>
      <p:sp>
        <p:nvSpPr>
          <p:cNvPr id="9" name="Text 4"/>
          <p:cNvSpPr/>
          <p:nvPr/>
        </p:nvSpPr>
        <p:spPr>
          <a:xfrm>
            <a:off x="1028390" y="2445331"/>
            <a:ext cx="4130632"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3F5F2"/>
                </a:solidFill>
                <a:latin typeface="Inter" pitchFamily="34" charset="0"/>
                <a:ea typeface="Inter" pitchFamily="34" charset="-122"/>
                <a:cs typeface="Inter" pitchFamily="34" charset="-120"/>
              </a:rPr>
              <a:t>Scale up to more monthly batches and years</a:t>
            </a:r>
            <a:endParaRPr lang="en-US" sz="1500" dirty="0"/>
          </a:p>
        </p:txBody>
      </p:sp>
      <p:pic>
        <p:nvPicPr>
          <p:cNvPr id="10" name="Image 3" descr="Chart"/>
          <p:cNvPicPr>
            <a:picLocks noChangeAspect="1"/>
          </p:cNvPicPr>
          <p:nvPr/>
        </p:nvPicPr>
        <p:blipFill>
          <a:blip r:embed="rId6"/>
          <a:srcRect/>
          <a:stretch/>
        </p:blipFill>
        <p:spPr>
          <a:xfrm>
            <a:off x="571190" y="2929518"/>
            <a:ext cx="304800" cy="304800"/>
          </a:xfrm>
          <a:prstGeom prst="rect">
            <a:avLst/>
          </a:prstGeom>
        </p:spPr>
      </p:pic>
      <p:sp>
        <p:nvSpPr>
          <p:cNvPr id="11" name="Text 5"/>
          <p:cNvSpPr/>
          <p:nvPr/>
        </p:nvSpPr>
        <p:spPr>
          <a:xfrm>
            <a:off x="1028390" y="2953331"/>
            <a:ext cx="546142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3F5F2"/>
                </a:solidFill>
                <a:latin typeface="Inter" pitchFamily="34" charset="0"/>
                <a:ea typeface="Inter" pitchFamily="34" charset="-122"/>
                <a:cs typeface="Inter" pitchFamily="34" charset="-120"/>
              </a:rPr>
              <a:t>Re-cluster, then summarize by street segment and junction</a:t>
            </a:r>
            <a:endParaRPr lang="en-US" sz="1500" dirty="0"/>
          </a:p>
        </p:txBody>
      </p:sp>
      <p:pic>
        <p:nvPicPr>
          <p:cNvPr id="12" name="Image 4" descr="Hand holding a card that reads Any Questions?"/>
          <p:cNvPicPr>
            <a:picLocks noChangeAspect="1"/>
          </p:cNvPicPr>
          <p:nvPr/>
        </p:nvPicPr>
        <p:blipFill>
          <a:blip r:embed="rId7"/>
          <a:srcRect r="13363"/>
          <a:stretch/>
        </p:blipFill>
        <p:spPr>
          <a:xfrm>
            <a:off x="2122" y="3425722"/>
            <a:ext cx="4589959" cy="3505994"/>
          </a:xfrm>
          <a:prstGeom prst="roundRect">
            <a:avLst>
              <a:gd name="adj" fmla="val 4347"/>
            </a:avLst>
          </a:prstGeom>
        </p:spPr>
      </p:pic>
      <p:pic>
        <p:nvPicPr>
          <p:cNvPr id="14" name="Picture 13">
            <a:extLst>
              <a:ext uri="{FF2B5EF4-FFF2-40B4-BE49-F238E27FC236}">
                <a16:creationId xmlns:a16="http://schemas.microsoft.com/office/drawing/2014/main" id="{CFAE621C-F401-4833-7064-E6367EACCAB2}"/>
              </a:ext>
            </a:extLst>
          </p:cNvPr>
          <p:cNvPicPr>
            <a:picLocks noChangeAspect="1"/>
          </p:cNvPicPr>
          <p:nvPr/>
        </p:nvPicPr>
        <p:blipFill>
          <a:blip r:embed="rId8"/>
          <a:stretch>
            <a:fillRect/>
          </a:stretch>
        </p:blipFill>
        <p:spPr>
          <a:xfrm>
            <a:off x="7222490" y="2426018"/>
            <a:ext cx="4086860" cy="35096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Mining Cyclist Behavior from GPS Trajectories – Midterm</dc:title>
  <dc:subject>PptxGenJS Presentation</dc:subject>
  <dc:creator>PptxGenJS</dc:creator>
  <cp:lastModifiedBy>PptxGenJS</cp:lastModifiedBy>
  <cp:revision>206</cp:revision>
  <dcterms:created xsi:type="dcterms:W3CDTF">2026-09-23T01:16:22Z</dcterms:created>
  <dcterms:modified xsi:type="dcterms:W3CDTF">2026-10-04T12:59:38Z</dcterms:modified>
</cp:coreProperties>
</file>